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18288000" cy="10287000"/>
  <p:notesSz cx="6858000" cy="9144000"/>
  <p:embeddedFontLst>
    <p:embeddedFont>
      <p:font typeface="TAN Pearl" charset="1" panose="00000000000000000000"/>
      <p:regular r:id="rId69"/>
    </p:embeddedFont>
    <p:embeddedFont>
      <p:font typeface="Montserrat" charset="1" panose="00000500000000000000"/>
      <p:regular r:id="rId70"/>
    </p:embeddedFont>
    <p:embeddedFont>
      <p:font typeface="Dreaming Outloud Sans" charset="1" panose="00000500000000000000"/>
      <p:regular r:id="rId71"/>
    </p:embeddedFont>
    <p:embeddedFont>
      <p:font typeface="Montserrat Bold" charset="1" panose="00000800000000000000"/>
      <p:regular r:id="rId72"/>
    </p:embeddedFont>
    <p:embeddedFont>
      <p:font typeface="Montserrat Italics" charset="1" panose="00000500000000000000"/>
      <p:regular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youtube.com/watch?v=L5t3vSSkb6E" TargetMode="External" Type="http://schemas.openxmlformats.org/officeDocument/2006/relationships/hyperlink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www.instagram.com/p/Crb4WWCA36K/" TargetMode="External" Type="http://schemas.openxmlformats.org/officeDocument/2006/relationships/hyperlink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tg-F_egJie/?img_index=6" TargetMode="External" Type="http://schemas.openxmlformats.org/officeDocument/2006/relationships/hyperlink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1IRVc5gucs/?img_index=1" TargetMode="External" Type="http://schemas.openxmlformats.org/officeDocument/2006/relationships/hyperlink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5TJWgnrUP-/" TargetMode="External" Type="http://schemas.openxmlformats.org/officeDocument/2006/relationships/hyperlink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6gaxwkAFCr/?img_index=1" TargetMode="External" Type="http://schemas.openxmlformats.org/officeDocument/2006/relationships/hyperlink"/><Relationship Id="rId3" Target="https://www.instagram.com/p/C_1S1jjPq5A/" TargetMode="External" Type="http://schemas.openxmlformats.org/officeDocument/2006/relationships/hyperlink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5o_ZKWvP03/" TargetMode="External" Type="http://schemas.openxmlformats.org/officeDocument/2006/relationships/hyperlink"/><Relationship Id="rId3" Target="https://www.instagram.com/p/C5rqYpUNTGw/" TargetMode="External" Type="http://schemas.openxmlformats.org/officeDocument/2006/relationships/hyperlink"/><Relationship Id="rId4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jovemnerd.com.br/noticias/animes-e-mangas/crunchyroll-credenciais-ccxp?utm_source=chatgpt.com" TargetMode="External" Type="http://schemas.openxmlformats.org/officeDocument/2006/relationships/hyperlink"/><Relationship Id="rId3" Target="https://www.instagram.com/p/DDLH4yCSHG8/" TargetMode="External" Type="http://schemas.openxmlformats.org/officeDocument/2006/relationships/hyperlink"/><Relationship Id="rId4" Target="https://www.instagram.com/p/DDOHP0fucMK/" TargetMode="External" Type="http://schemas.openxmlformats.org/officeDocument/2006/relationships/hyperlink"/><Relationship Id="rId5" Target="https://www.instagram.com/p/DDQhaeOgdov/" TargetMode="External" Type="http://schemas.openxmlformats.org/officeDocument/2006/relationships/hyperlink"/><Relationship Id="rId6" Target="https://www.instagram.com/p/DDSy81aRGqJ/" TargetMode="External" Type="http://schemas.openxmlformats.org/officeDocument/2006/relationships/hyperlink"/><Relationship Id="rId7" Target="https://www.instagram.com/p/DDTACeFv0AS/" TargetMode="External" Type="http://schemas.openxmlformats.org/officeDocument/2006/relationships/hyperlink"/><Relationship Id="rId8" Target="https://www.instagram.com/p/DDTOdfvN8IU/" TargetMode="External" Type="http://schemas.openxmlformats.org/officeDocument/2006/relationships/hyperlink"/><Relationship Id="rId9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ropmark.com.br/hbo-max-detalha-chegada-ao-brasil-e-campanha-com-conteudo-ao-maximo/" TargetMode="External" Type="http://schemas.openxmlformats.org/officeDocument/2006/relationships/hyperlink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ropmark.com.br/rayssa-leal-ganha-asas-em-filme-da-nike/?utm_source=chatgpt.com" TargetMode="External" Type="http://schemas.openxmlformats.org/officeDocument/2006/relationships/hyperlink"/><Relationship Id="rId3" Target="https://f5.folha.uol.com.br/celebridades/2021/07/rayssa-leal-vira-fada-em-nova-campanha-da-nike-veja-video.shtml?utm_source=chatgpt.com" TargetMode="External" Type="http://schemas.openxmlformats.org/officeDocument/2006/relationships/hyperlink"/><Relationship Id="rId4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4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uol.com.br/esporte/futebol/ultimas-noticias/2021/06/15/corinthians-lanca-uniforme-principal-com-design-que-quebra-barreiras.htm?utm_source=chatgpt.com" TargetMode="External" Type="http://schemas.openxmlformats.org/officeDocument/2006/relationships/hyperlink"/><Relationship Id="rId3" Target="https://trivela.com.br/brasil/corinthians-apresenta-camisa-para-2021-22-inspirada-na-quebra-de-barreiras-do-clube-na-historia/?utm_source=chatgpt.com" TargetMode="External" Type="http://schemas.openxmlformats.org/officeDocument/2006/relationships/hyperlink"/><Relationship Id="rId4" Target="https://mantosdofutebol.com.br/2021/09/terceira-camisa-corinthians-2021-2022-nike/?utm_source=chatgpt.com" TargetMode="External" Type="http://schemas.openxmlformats.org/officeDocument/2006/relationships/hyperlink"/><Relationship Id="rId5" Target="https://trivela.com.br/brasil/corinthians-apresenta-camisa-para-2021-22-inspirada-na-quebra-de-barreiras-do-clube-na-historia/?utm_source=chatgpt.com" TargetMode="External" Type="http://schemas.openxmlformats.org/officeDocument/2006/relationships/hyperlink"/><Relationship Id="rId6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e.globo.com/futebol/times/corinthians/noticia/corinthians-estreia-camisa-nesta-quarta-veja-fotos.ghtml" TargetMode="External" Type="http://schemas.openxmlformats.org/officeDocument/2006/relationships/hyperlink"/><Relationship Id="rId3" Target="https://youtu.be/wbTb7rdD1gY" TargetMode="External" Type="http://schemas.openxmlformats.org/officeDocument/2006/relationships/hyperlink"/><Relationship Id="rId4" Target="../media/image24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youtube.com/watch?v=IA-v_LB3Qpc" TargetMode="External" Type="http://schemas.openxmlformats.org/officeDocument/2006/relationships/hyperlink"/><Relationship Id="rId3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EZOxWzpxCv/?img_index=1" TargetMode="External" Type="http://schemas.openxmlformats.org/officeDocument/2006/relationships/hyperlink"/><Relationship Id="rId3" Target="../media/image3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https://www.instagram.com/p/B3ksyW6gzFY/" TargetMode="External" Type="http://schemas.openxmlformats.org/officeDocument/2006/relationships/hyperlink"/><Relationship Id="rId3" Target="https://www.instagram.com/p/B3uV0G9gLW0/" TargetMode="External" Type="http://schemas.openxmlformats.org/officeDocument/2006/relationships/hyperlink"/><Relationship Id="rId4" Target="https://www.instagram.com/p/B32CLNrAkjC/" TargetMode="External" Type="http://schemas.openxmlformats.org/officeDocument/2006/relationships/hyperlink"/><Relationship Id="rId5" Target="https://www.instagram.com/p/B372dJKAPKr/" TargetMode="External" Type="http://schemas.openxmlformats.org/officeDocument/2006/relationships/hyperlink"/><Relationship Id="rId6" Target="https://www.instagram.com/p/B4FfgNZAYMH/" TargetMode="External" Type="http://schemas.openxmlformats.org/officeDocument/2006/relationships/hyperlink"/><Relationship Id="rId7" Target="https://www.instagram.com/p/B4FfgNZAYMH/" TargetMode="External" Type="http://schemas.openxmlformats.org/officeDocument/2006/relationships/hyperlink"/><Relationship Id="rId8" Target="https://www.instagram.com/p/B4KqTcUA-ct/?img_index=1" TargetMode="External" Type="http://schemas.openxmlformats.org/officeDocument/2006/relationships/hyperlink"/><Relationship Id="rId9" Target="https://www.instagram.com/p/CDJny7ZgKrH/?img_index=3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EphMZsgww1/?img_index=1" TargetMode="External" Type="http://schemas.openxmlformats.org/officeDocument/2006/relationships/hyperlink"/><Relationship Id="rId3" Target="https://www.instagram.com/p/CEphMZsgww1/?img_index=1" TargetMode="External" Type="http://schemas.openxmlformats.org/officeDocument/2006/relationships/hyperlink"/><Relationship Id="rId4" Target="https://www.instagram.com/p/CD4pBRXpVJj/?img_index=1" TargetMode="External" Type="http://schemas.openxmlformats.org/officeDocument/2006/relationships/hyperlink"/><Relationship Id="rId5" Target="../media/image3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ByBBzbTHm3v/" TargetMode="External" Type="http://schemas.openxmlformats.org/officeDocument/2006/relationships/hyperlink"/><Relationship Id="rId3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instagram.com/p/CDgrz3xgZF_/" TargetMode="External" Type="http://schemas.openxmlformats.org/officeDocument/2006/relationships/hyperlink"/><Relationship Id="rId11" Target="https://www.instagram.com/p/CDgrz3xgZF_/" TargetMode="External" Type="http://schemas.openxmlformats.org/officeDocument/2006/relationships/hyperlink"/><Relationship Id="rId12" Target="https://www.instagram.com/p/CDgrz3xgZF_/" TargetMode="External" Type="http://schemas.openxmlformats.org/officeDocument/2006/relationships/hyperlink"/><Relationship Id="rId13" Target="https://www.instagram.com/p/CDgrz3xgZF_/" TargetMode="External" Type="http://schemas.openxmlformats.org/officeDocument/2006/relationships/hyperlink"/><Relationship Id="rId14" Target="https://www.instagram.com/p/CDgrz3xgZF_/" TargetMode="External" Type="http://schemas.openxmlformats.org/officeDocument/2006/relationships/hyperlink"/><Relationship Id="rId15" Target="https://www.instagram.com/p/CDgrz3xgZF_/" TargetMode="External" Type="http://schemas.openxmlformats.org/officeDocument/2006/relationships/hyperlink"/><Relationship Id="rId16" Target="https://www.instagram.com/p/CDgrz3xgZF_/" TargetMode="External" Type="http://schemas.openxmlformats.org/officeDocument/2006/relationships/hyperlink"/><Relationship Id="rId17" Target="https://www.instagram.com/p/CDgrz3xgZF_/" TargetMode="External" Type="http://schemas.openxmlformats.org/officeDocument/2006/relationships/hyperlink"/><Relationship Id="rId18" Target="https://www.instagram.com/p/CDgrz3xgZF_/" TargetMode="External" Type="http://schemas.openxmlformats.org/officeDocument/2006/relationships/hyperlink"/><Relationship Id="rId19" Target="https://www.instagram.com/p/CDgrz3xgZF_/" TargetMode="External" Type="http://schemas.openxmlformats.org/officeDocument/2006/relationships/hyperlink"/><Relationship Id="rId2" Target="https://www.instagram.com/p/CDgrz3xgZF_/" TargetMode="External" Type="http://schemas.openxmlformats.org/officeDocument/2006/relationships/hyperlink"/><Relationship Id="rId20" Target="https://www.instagram.com/p/CDgrz3xgZF_/" TargetMode="External" Type="http://schemas.openxmlformats.org/officeDocument/2006/relationships/hyperlink"/><Relationship Id="rId21" Target="https://www.instagram.com/p/CDgrz3xgZF_/" TargetMode="External" Type="http://schemas.openxmlformats.org/officeDocument/2006/relationships/hyperlink"/><Relationship Id="rId22" Target="https://www.instagram.com/p/CDgrz3xgZF_/" TargetMode="External" Type="http://schemas.openxmlformats.org/officeDocument/2006/relationships/hyperlink"/><Relationship Id="rId23" Target="https://www.instagram.com/p/CDgrz3xgZF_/" TargetMode="External" Type="http://schemas.openxmlformats.org/officeDocument/2006/relationships/hyperlink"/><Relationship Id="rId24" Target="https://www.instagram.com/p/CDgrz3xgZF_/" TargetMode="External" Type="http://schemas.openxmlformats.org/officeDocument/2006/relationships/hyperlink"/><Relationship Id="rId25" Target="https://www.instagram.com/p/CDgrz3xgZF_/" TargetMode="External" Type="http://schemas.openxmlformats.org/officeDocument/2006/relationships/hyperlink"/><Relationship Id="rId26" Target="https://www.instagram.com/p/CDgrz3xgZF_/" TargetMode="External" Type="http://schemas.openxmlformats.org/officeDocument/2006/relationships/hyperlink"/><Relationship Id="rId27" Target="../media/image35.png" Type="http://schemas.openxmlformats.org/officeDocument/2006/relationships/image"/><Relationship Id="rId3" Target="https://www.instagram.com/p/CDgrz3xgZF_/" TargetMode="External" Type="http://schemas.openxmlformats.org/officeDocument/2006/relationships/hyperlink"/><Relationship Id="rId4" Target="https://www.instagram.com/p/CDgrz3xgZF_/" TargetMode="External" Type="http://schemas.openxmlformats.org/officeDocument/2006/relationships/hyperlink"/><Relationship Id="rId5" Target="https://www.instagram.com/p/CDgrz3xgZF_/" TargetMode="External" Type="http://schemas.openxmlformats.org/officeDocument/2006/relationships/hyperlink"/><Relationship Id="rId6" Target="https://www.instagram.com/p/CDgrz3xgZF_/" TargetMode="External" Type="http://schemas.openxmlformats.org/officeDocument/2006/relationships/hyperlink"/><Relationship Id="rId7" Target="https://www.instagram.com/p/CDgrz3xgZF_/" TargetMode="External" Type="http://schemas.openxmlformats.org/officeDocument/2006/relationships/hyperlink"/><Relationship Id="rId8" Target="https://www.instagram.com/p/CDgrz3xgZF_/" TargetMode="External" Type="http://schemas.openxmlformats.org/officeDocument/2006/relationships/hyperlink"/><Relationship Id="rId9" Target="https://www.instagram.com/p/CDgrz3xgZF_/" TargetMode="External" Type="http://schemas.openxmlformats.org/officeDocument/2006/relationships/hyperlink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FVUcKRHNJC/?img_index=1" TargetMode="External" Type="http://schemas.openxmlformats.org/officeDocument/2006/relationships/hyperlink"/><Relationship Id="rId3" Target="../media/image3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FHmV5oAGMF/?img_index=1" TargetMode="External" Type="http://schemas.openxmlformats.org/officeDocument/2006/relationships/hyperlink"/><Relationship Id="rId3" Target="../media/image3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DOuTd7gbzq/?img_index=1" TargetMode="External" Type="http://schemas.openxmlformats.org/officeDocument/2006/relationships/hyperlink"/><Relationship Id="rId3" Target="../media/image3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diageo.com/en/news-and-media/stories/2021/johnnie-walker-launches-new-keep-walking-campaign-to-get-the-world-moving-again?utm_source=chatgpt.com" TargetMode="External" Type="http://schemas.openxmlformats.org/officeDocument/2006/relationships/hyperlink"/><Relationship Id="rId3" Target="../media/image3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instagram.com/p/CDOuTd7gbzq/?img_index=1" TargetMode="External" Type="http://schemas.openxmlformats.org/officeDocument/2006/relationships/hyperlink"/><Relationship Id="rId11" Target="https://www.instagram.com/p/CDOuTd7gbzq/?img_index=1" TargetMode="External" Type="http://schemas.openxmlformats.org/officeDocument/2006/relationships/hyperlink"/><Relationship Id="rId12" Target="https://www.instagram.com/p/CDOuTd7gbzq/?img_index=1" TargetMode="External" Type="http://schemas.openxmlformats.org/officeDocument/2006/relationships/hyperlink"/><Relationship Id="rId13" Target="https://www.instagram.com/p/CDOuTd7gbzq/?img_index=1" TargetMode="External" Type="http://schemas.openxmlformats.org/officeDocument/2006/relationships/hyperlink"/><Relationship Id="rId14" Target="https://www.instagram.com/p/CDOuTd7gbzq/?img_index=1" TargetMode="External" Type="http://schemas.openxmlformats.org/officeDocument/2006/relationships/hyperlink"/><Relationship Id="rId15" Target="https://www.instagram.com/p/CDOuTd7gbzq/?img_index=1" TargetMode="External" Type="http://schemas.openxmlformats.org/officeDocument/2006/relationships/hyperlink"/><Relationship Id="rId16" Target="https://www.instagram.com/p/CDOuTd7gbzq/?img_index=1" TargetMode="External" Type="http://schemas.openxmlformats.org/officeDocument/2006/relationships/hyperlink"/><Relationship Id="rId17" Target="https://www.instagram.com/p/CDOuTd7gbzq/?img_index=1" TargetMode="External" Type="http://schemas.openxmlformats.org/officeDocument/2006/relationships/hyperlink"/><Relationship Id="rId18" Target="https://www.instagram.com/p/CDOuTd7gbzq/?img_index=1" TargetMode="External" Type="http://schemas.openxmlformats.org/officeDocument/2006/relationships/hyperlink"/><Relationship Id="rId19" Target="https://www.instagram.com/p/CDOuTd7gbzq/?img_index=1" TargetMode="External" Type="http://schemas.openxmlformats.org/officeDocument/2006/relationships/hyperlink"/><Relationship Id="rId2" Target="https://www.instagram.com/p/CDOuTd7gbzq/?img_index=1" TargetMode="External" Type="http://schemas.openxmlformats.org/officeDocument/2006/relationships/hyperlink"/><Relationship Id="rId20" Target="https://www.instagram.com/p/CDOuTd7gbzq/?img_index=1" TargetMode="External" Type="http://schemas.openxmlformats.org/officeDocument/2006/relationships/hyperlink"/><Relationship Id="rId21" Target="../media/image36.png" Type="http://schemas.openxmlformats.org/officeDocument/2006/relationships/image"/><Relationship Id="rId3" Target="https://www.instagram.com/p/CDOuTd7gbzq/?img_index=1" TargetMode="External" Type="http://schemas.openxmlformats.org/officeDocument/2006/relationships/hyperlink"/><Relationship Id="rId4" Target="https://www.instagram.com/p/CDOuTd7gbzq/?img_index=1" TargetMode="External" Type="http://schemas.openxmlformats.org/officeDocument/2006/relationships/hyperlink"/><Relationship Id="rId5" Target="https://www.instagram.com/p/CDOuTd7gbzq/?img_index=1" TargetMode="External" Type="http://schemas.openxmlformats.org/officeDocument/2006/relationships/hyperlink"/><Relationship Id="rId6" Target="https://www.instagram.com/p/CDOuTd7gbzq/?img_index=1" TargetMode="External" Type="http://schemas.openxmlformats.org/officeDocument/2006/relationships/hyperlink"/><Relationship Id="rId7" Target="https://www.instagram.com/p/CDOuTd7gbzq/?img_index=1" TargetMode="External" Type="http://schemas.openxmlformats.org/officeDocument/2006/relationships/hyperlink"/><Relationship Id="rId8" Target="https://www.instagram.com/p/CDOuTd7gbzq/?img_index=1" TargetMode="External" Type="http://schemas.openxmlformats.org/officeDocument/2006/relationships/hyperlink"/><Relationship Id="rId9" Target="https://www.instagram.com/p/CDOuTd7gbzq/?img_index=1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behance.net/gallery/98186889/Diageo-Tanqueray-Rock-in-Rio-2019" TargetMode="External" Type="http://schemas.openxmlformats.org/officeDocument/2006/relationships/hyperlink"/><Relationship Id="rId3" Target="https://www.behance.net/gallery/98186699/Johnny-Walker-Tanqueray-Rock-and-Rio-2019" TargetMode="External" Type="http://schemas.openxmlformats.org/officeDocument/2006/relationships/hyperlink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DbmMm0AGvO/?img_index=1" TargetMode="External" Type="http://schemas.openxmlformats.org/officeDocument/2006/relationships/hyperlink"/><Relationship Id="rId3" Target="../media/image39.png" Type="http://schemas.openxmlformats.org/officeDocument/2006/relationships/image"/><Relationship Id="rId4" Target="../media/image36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FaSMuegnWw/?img_index=1" TargetMode="External" Type="http://schemas.openxmlformats.org/officeDocument/2006/relationships/hyperlink"/><Relationship Id="rId3" Target="../media/image4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fM96pwlFal/" TargetMode="External" Type="http://schemas.openxmlformats.org/officeDocument/2006/relationships/hyperlink"/><Relationship Id="rId3" Target="https://www.instagram.com/p/CfHtk_XlKub/" TargetMode="External" Type="http://schemas.openxmlformats.org/officeDocument/2006/relationships/hyperlink"/><Relationship Id="rId4" Target="https://www.instagram.com/p/CEkSQBMAdA8/?img_index=1" TargetMode="External" Type="http://schemas.openxmlformats.org/officeDocument/2006/relationships/hyperlink"/><Relationship Id="rId5" Target="../media/image32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EAU76WA-ih/?img_index=1" TargetMode="External" Type="http://schemas.openxmlformats.org/officeDocument/2006/relationships/hyperlink"/><Relationship Id="rId3" Target="../media/image32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p/CEUPWtGgdDz/?img_index=1" TargetMode="External" Type="http://schemas.openxmlformats.org/officeDocument/2006/relationships/hyperlink"/><Relationship Id="rId3" Target="../media/image32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behance.net/gallery/34095204/HBO-GAME-OF-THRONES-SEASON-6-CAMPAIGN-ELEMENTS?locale=en_US" TargetMode="External" Type="http://schemas.openxmlformats.org/officeDocument/2006/relationships/hyperlink"/><Relationship Id="rId3" Target="https://www.nexttv.com/news/hbo-gets-creative-with-game-of-thrones-marketing" TargetMode="External" Type="http://schemas.openxmlformats.org/officeDocument/2006/relationships/hyperlink"/><Relationship Id="rId4" Target="https://www.spiceworks.com/tech/innovation/articles/wintry-cool-game-of-thrones-marketing-campaigns-inspiration-for-marketers/" TargetMode="External" Type="http://schemas.openxmlformats.org/officeDocument/2006/relationships/hyperlink"/><Relationship Id="rId5" Target="../media/image41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medium.com/ipg-media-lab/hbo-launches-campaign-on-whisper-to-turn-secrets-into-branded-content-9e7a6f9cc84e?utm_source=chatgpt.com" TargetMode="External" Type="http://schemas.openxmlformats.org/officeDocument/2006/relationships/hyperlink"/><Relationship Id="rId3" Target="https://www.teenvogue.com/story/shailene-woodley-big-little-lies-trailer?utm_source=chatgpt.com" TargetMode="External" Type="http://schemas.openxmlformats.org/officeDocument/2006/relationships/hyperlink"/><Relationship Id="rId4" Target="../media/image46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n.wikipedia.org/wiki/Westworld_%28TV_series%29?utm_source=chatgpt.com" TargetMode="External" Type="http://schemas.openxmlformats.org/officeDocument/2006/relationships/hyperlink"/><Relationship Id="rId3" Target="https://www.theverge.com/westworld" TargetMode="External" Type="http://schemas.openxmlformats.org/officeDocument/2006/relationships/hyperlink"/><Relationship Id="rId4" Target="https://www.eventmarketer.com/article/grand-ex-2019-hbo-giant-spoon-sxswestworld/" TargetMode="External" Type="http://schemas.openxmlformats.org/officeDocument/2006/relationships/hyperlink"/><Relationship Id="rId5" Target="https://www.imdb.com/title/tt0475784/mediaviewer/rm2580395776/" TargetMode="External" Type="http://schemas.openxmlformats.org/officeDocument/2006/relationships/hyperlink"/><Relationship Id="rId6" Target="http://discoverwestworld.com" TargetMode="External" Type="http://schemas.openxmlformats.org/officeDocument/2006/relationships/hyperlink"/><Relationship Id="rId7" Target="../media/image49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spot.tv/product/kSC?utm_source=chatgpt.com" TargetMode="External" Type="http://schemas.openxmlformats.org/officeDocument/2006/relationships/hyperlink"/><Relationship Id="rId3" Target="https://www.ispot.tv/product/kSC?utm_source=chatgpt.com" TargetMode="External" Type="http://schemas.openxmlformats.org/officeDocument/2006/relationships/hyperlink"/><Relationship Id="rId4" Target="../media/image50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media/image67.jpeg" Type="http://schemas.openxmlformats.org/officeDocument/2006/relationships/image"/><Relationship Id="rId16" Target="https://www.linkedin.com/in/paulagaliano/" TargetMode="External" Type="http://schemas.openxmlformats.org/officeDocument/2006/relationships/hyperlink"/><Relationship Id="rId2" Target="../media/image4.pn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666" r="0" b="-22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645975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6696823" y="5156115"/>
            <a:ext cx="7020281" cy="19050"/>
            <a:chOff x="0" y="0"/>
            <a:chExt cx="9360375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9335008" cy="25400"/>
            </a:xfrm>
            <a:custGeom>
              <a:avLst/>
              <a:gdLst/>
              <a:ahLst/>
              <a:cxnLst/>
              <a:rect r="r" b="b" t="t" l="l"/>
              <a:pathLst>
                <a:path h="25400" w="9335008">
                  <a:moveTo>
                    <a:pt x="0" y="0"/>
                  </a:moveTo>
                  <a:lnTo>
                    <a:pt x="9335008" y="0"/>
                  </a:lnTo>
                  <a:lnTo>
                    <a:pt x="933500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06964" y="1693600"/>
            <a:ext cx="6350354" cy="6982181"/>
            <a:chOff x="0" y="0"/>
            <a:chExt cx="8467139" cy="9309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67090" cy="9309608"/>
            </a:xfrm>
            <a:custGeom>
              <a:avLst/>
              <a:gdLst/>
              <a:ahLst/>
              <a:cxnLst/>
              <a:rect r="r" b="b" t="t" l="l"/>
              <a:pathLst>
                <a:path h="9309608" w="8467090">
                  <a:moveTo>
                    <a:pt x="0" y="0"/>
                  </a:moveTo>
                  <a:lnTo>
                    <a:pt x="8467090" y="0"/>
                  </a:lnTo>
                  <a:lnTo>
                    <a:pt x="8467090" y="9309608"/>
                  </a:lnTo>
                  <a:lnTo>
                    <a:pt x="0" y="9309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33" t="0" r="-993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63395" y="3692964"/>
            <a:ext cx="9130278" cy="3278430"/>
            <a:chOff x="0" y="0"/>
            <a:chExt cx="12173704" cy="4371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73704" cy="4371240"/>
            </a:xfrm>
            <a:custGeom>
              <a:avLst/>
              <a:gdLst/>
              <a:ahLst/>
              <a:cxnLst/>
              <a:rect r="r" b="b" t="t" l="l"/>
              <a:pathLst>
                <a:path h="4371240" w="12173704">
                  <a:moveTo>
                    <a:pt x="0" y="0"/>
                  </a:moveTo>
                  <a:lnTo>
                    <a:pt x="12173704" y="0"/>
                  </a:lnTo>
                  <a:lnTo>
                    <a:pt x="12173704" y="4371240"/>
                  </a:lnTo>
                  <a:lnTo>
                    <a:pt x="0" y="4371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71450"/>
              <a:ext cx="12173704" cy="45426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2693"/>
                </a:lnSpc>
              </a:pPr>
              <a:r>
                <a:rPr lang="en-US" sz="9839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PAULA</a:t>
              </a:r>
            </a:p>
            <a:p>
              <a:pPr algn="l">
                <a:lnSpc>
                  <a:spcPts val="12693"/>
                </a:lnSpc>
              </a:pPr>
              <a:r>
                <a:rPr lang="en-US" sz="9839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GALIANO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21796" y="8938929"/>
            <a:ext cx="15337504" cy="1031780"/>
            <a:chOff x="0" y="0"/>
            <a:chExt cx="20450005" cy="13757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50006" cy="1375707"/>
            </a:xfrm>
            <a:custGeom>
              <a:avLst/>
              <a:gdLst/>
              <a:ahLst/>
              <a:cxnLst/>
              <a:rect r="r" b="b" t="t" l="l"/>
              <a:pathLst>
                <a:path h="1375707" w="20450006">
                  <a:moveTo>
                    <a:pt x="0" y="0"/>
                  </a:moveTo>
                  <a:lnTo>
                    <a:pt x="20450006" y="0"/>
                  </a:lnTo>
                  <a:lnTo>
                    <a:pt x="20450006" y="1375707"/>
                  </a:lnTo>
                  <a:lnTo>
                    <a:pt x="0" y="1375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0450005" cy="14328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59"/>
                </a:lnSpc>
              </a:pPr>
              <a:r>
                <a:rPr lang="en-US" sz="31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PORTFÓLIO PROFISSIONAL | ABRIL 2025</a:t>
              </a:r>
            </a:p>
            <a:p>
              <a:pPr algn="l">
                <a:lnSpc>
                  <a:spcPts val="3387"/>
                </a:lnSpc>
              </a:pPr>
              <a:r>
                <a:rPr lang="en-US" sz="2419">
                  <a:solidFill>
                    <a:srgbClr val="000000"/>
                  </a:solidFill>
                  <a:latin typeface="Dreaming Outloud Sans"/>
                  <a:ea typeface="Dreaming Outloud Sans"/>
                  <a:cs typeface="Dreaming Outloud Sans"/>
                  <a:sym typeface="Dreaming Outloud Sans"/>
                </a:rPr>
                <a:t>CRIATIVIDADE ESTRATÉGICA COM ALMA LATINA E OLHAR GLOBAL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632297" y="8737452"/>
            <a:ext cx="1428037" cy="1428037"/>
          </a:xfrm>
          <a:custGeom>
            <a:avLst/>
            <a:gdLst/>
            <a:ahLst/>
            <a:cxnLst/>
            <a:rect r="r" b="b" t="t" l="l"/>
            <a:pathLst>
              <a:path h="1428037" w="1428037">
                <a:moveTo>
                  <a:pt x="0" y="0"/>
                </a:moveTo>
                <a:lnTo>
                  <a:pt x="1428037" y="0"/>
                </a:lnTo>
                <a:lnTo>
                  <a:pt x="1428037" y="1428037"/>
                </a:lnTo>
                <a:lnTo>
                  <a:pt x="0" y="1428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495010">
            <a:off x="-419760" y="-789944"/>
            <a:ext cx="19127520" cy="11866888"/>
            <a:chOff x="0" y="0"/>
            <a:chExt cx="25503360" cy="15822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3378" cy="15822549"/>
            </a:xfrm>
            <a:custGeom>
              <a:avLst/>
              <a:gdLst/>
              <a:ahLst/>
              <a:cxnLst/>
              <a:rect r="r" b="b" t="t" l="l"/>
              <a:pathLst>
                <a:path h="15822549" w="25503378">
                  <a:moveTo>
                    <a:pt x="25503378" y="13662025"/>
                  </a:moveTo>
                  <a:lnTo>
                    <a:pt x="1215263" y="15822549"/>
                  </a:lnTo>
                  <a:lnTo>
                    <a:pt x="0" y="2160397"/>
                  </a:lnTo>
                  <a:lnTo>
                    <a:pt x="24288114" y="0"/>
                  </a:lnTo>
                  <a:lnTo>
                    <a:pt x="25503378" y="13662025"/>
                  </a:lnTo>
                  <a:close/>
                </a:path>
              </a:pathLst>
            </a:custGeom>
            <a:blipFill>
              <a:blip r:embed="rId2"/>
              <a:stretch>
                <a:fillRect l="0" t="-15845" r="0" b="-158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3724096" y="4309315"/>
            <a:ext cx="8675781" cy="19050"/>
            <a:chOff x="0" y="0"/>
            <a:chExt cx="11567708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1542268" cy="25400"/>
            </a:xfrm>
            <a:custGeom>
              <a:avLst/>
              <a:gdLst/>
              <a:ahLst/>
              <a:cxnLst/>
              <a:rect r="r" b="b" t="t" l="l"/>
              <a:pathLst>
                <a:path h="25400" w="11542268">
                  <a:moveTo>
                    <a:pt x="0" y="0"/>
                  </a:moveTo>
                  <a:lnTo>
                    <a:pt x="11542268" y="0"/>
                  </a:lnTo>
                  <a:lnTo>
                    <a:pt x="115422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3433" y="9525"/>
            <a:ext cx="6285802" cy="8656731"/>
            <a:chOff x="0" y="0"/>
            <a:chExt cx="8381069" cy="115423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81111" cy="11542268"/>
            </a:xfrm>
            <a:custGeom>
              <a:avLst/>
              <a:gdLst/>
              <a:ahLst/>
              <a:cxnLst/>
              <a:rect r="r" b="b" t="t" l="l"/>
              <a:pathLst>
                <a:path h="11542268" w="8381111">
                  <a:moveTo>
                    <a:pt x="0" y="0"/>
                  </a:moveTo>
                  <a:lnTo>
                    <a:pt x="8381111" y="0"/>
                  </a:lnTo>
                  <a:lnTo>
                    <a:pt x="8381111" y="11542268"/>
                  </a:lnTo>
                  <a:lnTo>
                    <a:pt x="0" y="1154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28" t="0" r="-582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82817" y="1488724"/>
            <a:ext cx="7283552" cy="1034979"/>
            <a:chOff x="0" y="0"/>
            <a:chExt cx="9711403" cy="13799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11403" cy="1379972"/>
            </a:xfrm>
            <a:custGeom>
              <a:avLst/>
              <a:gdLst/>
              <a:ahLst/>
              <a:cxnLst/>
              <a:rect r="r" b="b" t="t" l="l"/>
              <a:pathLst>
                <a:path h="1379972" w="9711403">
                  <a:moveTo>
                    <a:pt x="0" y="0"/>
                  </a:moveTo>
                  <a:lnTo>
                    <a:pt x="9711403" y="0"/>
                  </a:lnTo>
                  <a:lnTo>
                    <a:pt x="9711403" y="1379972"/>
                  </a:lnTo>
                  <a:lnTo>
                    <a:pt x="0" y="1379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9711403" cy="14847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91"/>
                </a:lnSpc>
              </a:pPr>
              <a:r>
                <a:rPr lang="en-US" sz="6117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ÍNDICE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53998" y="3290430"/>
            <a:ext cx="6041953" cy="4964931"/>
            <a:chOff x="0" y="0"/>
            <a:chExt cx="8055937" cy="66199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55937" cy="6619908"/>
            </a:xfrm>
            <a:custGeom>
              <a:avLst/>
              <a:gdLst/>
              <a:ahLst/>
              <a:cxnLst/>
              <a:rect r="r" b="b" t="t" l="l"/>
              <a:pathLst>
                <a:path h="6619908" w="8055937">
                  <a:moveTo>
                    <a:pt x="0" y="0"/>
                  </a:moveTo>
                  <a:lnTo>
                    <a:pt x="8055937" y="0"/>
                  </a:lnTo>
                  <a:lnTo>
                    <a:pt x="8055937" y="6619908"/>
                  </a:lnTo>
                  <a:lnTo>
                    <a:pt x="0" y="66199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055937" cy="66770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SOBRE MIM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TRAJETÓRIA PROFISSIONAL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FORMAÇÃO, IDIOMAS E PERFIL MULTICULTURAL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F/MALTA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WIEDEN + KENNEDY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UMA UMA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HBO LATIN AMERICA</a:t>
              </a:r>
            </a:p>
            <a:p>
              <a:pPr algn="l">
                <a:lnSpc>
                  <a:spcPts val="3471"/>
                </a:lnSpc>
              </a:pPr>
              <a:r>
                <a:rPr lang="en-US" sz="24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JWT</a:t>
              </a:r>
            </a:p>
            <a:p>
              <a:pPr algn="l">
                <a:lnSpc>
                  <a:spcPts val="3471"/>
                </a:lnSpc>
              </a:pPr>
              <a:r>
                <a:rPr lang="en-US" sz="24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MENSAGEM FINAL</a:t>
              </a:r>
            </a:p>
            <a:p>
              <a:pPr algn="l">
                <a:lnSpc>
                  <a:spcPts val="3471"/>
                </a:lnSpc>
              </a:pPr>
              <a:r>
                <a:rPr lang="en-US" sz="24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82817" y="3234550"/>
            <a:ext cx="1129519" cy="5020811"/>
            <a:chOff x="0" y="0"/>
            <a:chExt cx="1506025" cy="669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06025" cy="6694415"/>
            </a:xfrm>
            <a:custGeom>
              <a:avLst/>
              <a:gdLst/>
              <a:ahLst/>
              <a:cxnLst/>
              <a:rect r="r" b="b" t="t" l="l"/>
              <a:pathLst>
                <a:path h="6694415" w="1506025">
                  <a:moveTo>
                    <a:pt x="0" y="0"/>
                  </a:moveTo>
                  <a:lnTo>
                    <a:pt x="1506025" y="0"/>
                  </a:lnTo>
                  <a:lnTo>
                    <a:pt x="1506025" y="6694415"/>
                  </a:lnTo>
                  <a:lnTo>
                    <a:pt x="0" y="6694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506025" cy="675156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01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02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03</a:t>
              </a:r>
            </a:p>
            <a:p>
              <a:pPr algn="l">
                <a:lnSpc>
                  <a:spcPts val="3611"/>
                </a:lnSpc>
              </a:pP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04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05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06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07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08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09</a:t>
              </a:r>
            </a:p>
            <a:p>
              <a:pPr algn="l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/ 10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-2841010" y="4134048"/>
            <a:ext cx="7392848" cy="398158"/>
            <a:chOff x="0" y="0"/>
            <a:chExt cx="9857131" cy="5308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57131" cy="530878"/>
            </a:xfrm>
            <a:custGeom>
              <a:avLst/>
              <a:gdLst/>
              <a:ahLst/>
              <a:cxnLst/>
              <a:rect r="r" b="b" t="t" l="l"/>
              <a:pathLst>
                <a:path h="530878" w="9857131">
                  <a:moveTo>
                    <a:pt x="0" y="0"/>
                  </a:moveTo>
                  <a:lnTo>
                    <a:pt x="9857131" y="0"/>
                  </a:lnTo>
                  <a:lnTo>
                    <a:pt x="9857131" y="530878"/>
                  </a:lnTo>
                  <a:lnTo>
                    <a:pt x="0" y="5308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857131" cy="5689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20"/>
                </a:lnSpc>
              </a:pPr>
              <a:r>
                <a:rPr lang="en-US" sz="20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PORTFÓLIO PROFISSIONAL DE PAULA GALIANO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495010">
            <a:off x="-419760" y="-789944"/>
            <a:ext cx="19127520" cy="11866888"/>
            <a:chOff x="0" y="0"/>
            <a:chExt cx="25503360" cy="15822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3378" cy="15822549"/>
            </a:xfrm>
            <a:custGeom>
              <a:avLst/>
              <a:gdLst/>
              <a:ahLst/>
              <a:cxnLst/>
              <a:rect r="r" b="b" t="t" l="l"/>
              <a:pathLst>
                <a:path h="15822549" w="25503378">
                  <a:moveTo>
                    <a:pt x="25503378" y="13662025"/>
                  </a:moveTo>
                  <a:lnTo>
                    <a:pt x="1215263" y="15822549"/>
                  </a:lnTo>
                  <a:lnTo>
                    <a:pt x="0" y="2160397"/>
                  </a:lnTo>
                  <a:lnTo>
                    <a:pt x="24288114" y="0"/>
                  </a:lnTo>
                  <a:lnTo>
                    <a:pt x="25503378" y="13662025"/>
                  </a:lnTo>
                  <a:close/>
                </a:path>
              </a:pathLst>
            </a:custGeom>
            <a:blipFill>
              <a:blip r:embed="rId2"/>
              <a:stretch>
                <a:fillRect l="0" t="-15845" r="0" b="-158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5878598" y="4309315"/>
            <a:ext cx="8675781" cy="19050"/>
            <a:chOff x="0" y="0"/>
            <a:chExt cx="11567708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1542268" cy="25400"/>
            </a:xfrm>
            <a:custGeom>
              <a:avLst/>
              <a:gdLst/>
              <a:ahLst/>
              <a:cxnLst/>
              <a:rect r="r" b="b" t="t" l="l"/>
              <a:pathLst>
                <a:path h="25400" w="11542268">
                  <a:moveTo>
                    <a:pt x="0" y="0"/>
                  </a:moveTo>
                  <a:lnTo>
                    <a:pt x="11542268" y="0"/>
                  </a:lnTo>
                  <a:lnTo>
                    <a:pt x="115422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16489" y="30256"/>
            <a:ext cx="6340829" cy="8635999"/>
            <a:chOff x="0" y="0"/>
            <a:chExt cx="8454439" cy="11514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54390" cy="11514709"/>
            </a:xfrm>
            <a:custGeom>
              <a:avLst/>
              <a:gdLst/>
              <a:ahLst/>
              <a:cxnLst/>
              <a:rect r="r" b="b" t="t" l="l"/>
              <a:pathLst>
                <a:path h="11514709" w="8454390">
                  <a:moveTo>
                    <a:pt x="0" y="0"/>
                  </a:moveTo>
                  <a:lnTo>
                    <a:pt x="8454390" y="0"/>
                  </a:lnTo>
                  <a:lnTo>
                    <a:pt x="8454390" y="11514709"/>
                  </a:lnTo>
                  <a:lnTo>
                    <a:pt x="0" y="1151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154" r="0" b="-515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23412" y="1080083"/>
            <a:ext cx="7283552" cy="1025652"/>
            <a:chOff x="0" y="0"/>
            <a:chExt cx="9711403" cy="1367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11403" cy="1367536"/>
            </a:xfrm>
            <a:custGeom>
              <a:avLst/>
              <a:gdLst/>
              <a:ahLst/>
              <a:cxnLst/>
              <a:rect r="r" b="b" t="t" l="l"/>
              <a:pathLst>
                <a:path h="1367536" w="9711403">
                  <a:moveTo>
                    <a:pt x="0" y="0"/>
                  </a:moveTo>
                  <a:lnTo>
                    <a:pt x="9711403" y="0"/>
                  </a:lnTo>
                  <a:lnTo>
                    <a:pt x="9711403" y="1367536"/>
                  </a:lnTo>
                  <a:lnTo>
                    <a:pt x="0" y="13675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9711403" cy="14723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67"/>
                </a:lnSpc>
              </a:pPr>
              <a:r>
                <a:rPr lang="en-US" sz="6098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SOBRE MIM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23412" y="2811804"/>
            <a:ext cx="7090608" cy="5720970"/>
            <a:chOff x="0" y="0"/>
            <a:chExt cx="9454144" cy="7627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54144" cy="7627960"/>
            </a:xfrm>
            <a:custGeom>
              <a:avLst/>
              <a:gdLst/>
              <a:ahLst/>
              <a:cxnLst/>
              <a:rect r="r" b="b" t="t" l="l"/>
              <a:pathLst>
                <a:path h="7627960" w="9454144">
                  <a:moveTo>
                    <a:pt x="0" y="0"/>
                  </a:moveTo>
                  <a:lnTo>
                    <a:pt x="9454144" y="0"/>
                  </a:lnTo>
                  <a:lnTo>
                    <a:pt x="9454144" y="7627960"/>
                  </a:lnTo>
                  <a:lnTo>
                    <a:pt x="0" y="7627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454144" cy="76660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40"/>
                </a:lnSpc>
              </a:pPr>
              <a:r>
                <a:rPr lang="en-US" sz="18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 uma estrategista de marketing e comunicação com mais de 22 anos de experiência liderando projetos para grandes marcas globais como HBO Latin America, Nike, Diageo, Mercado Livre e Unilever.</a:t>
              </a:r>
            </a:p>
            <a:p>
              <a:pPr algn="l">
                <a:lnSpc>
                  <a:spcPts val="2540"/>
                </a:lnSpc>
              </a:pPr>
              <a:r>
                <a:rPr lang="en-US" sz="18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 uma trajetória marcada pela liderança de equipes multifuncionais e o desenvolvimento de campanhas omnichannel, tenho profundo conhecimento do mercado latino-americano, além de uma visão multicultural aguçada, resultado da minha herança brasileira e argentina e vivência internacional.</a:t>
              </a:r>
            </a:p>
            <a:p>
              <a:pPr algn="l">
                <a:lnSpc>
                  <a:spcPts val="2540"/>
                </a:lnSpc>
              </a:pPr>
              <a:r>
                <a:rPr lang="en-US" sz="18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Ao longo da minha carreira, conduzi transformações digitais, participei de lançamentos de plataformas como HBO GO e VOD no Brasil, e colaborei com times internacionais para criar narrativas de marca integradas e impactantes.</a:t>
              </a:r>
            </a:p>
            <a:p>
              <a:pPr algn="l">
                <a:lnSpc>
                  <a:spcPts val="2540"/>
                </a:lnSpc>
              </a:pPr>
              <a:r>
                <a:rPr lang="en-US" sz="18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Meu diferencial está na capacidade de unir dados, criatividade e sensibilidade cultural para criar estratégias que geram resultados reais e conexões autênticas com o público </a:t>
              </a:r>
            </a:p>
            <a:p>
              <a:pPr algn="l">
                <a:lnSpc>
                  <a:spcPts val="30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136" y="9077325"/>
            <a:ext cx="1525843" cy="723519"/>
            <a:chOff x="0" y="0"/>
            <a:chExt cx="2034457" cy="9646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4457" cy="964692"/>
            </a:xfrm>
            <a:custGeom>
              <a:avLst/>
              <a:gdLst/>
              <a:ahLst/>
              <a:cxnLst/>
              <a:rect r="r" b="b" t="t" l="l"/>
              <a:pathLst>
                <a:path h="964692" w="2034457">
                  <a:moveTo>
                    <a:pt x="0" y="0"/>
                  </a:moveTo>
                  <a:lnTo>
                    <a:pt x="2034457" y="0"/>
                  </a:lnTo>
                  <a:lnTo>
                    <a:pt x="2034457" y="964692"/>
                  </a:lnTo>
                  <a:lnTo>
                    <a:pt x="0" y="96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2034457" cy="10504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418"/>
                </a:lnSpc>
              </a:pPr>
              <a:r>
                <a:rPr lang="en-US" sz="420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PAULA GALIANO | ESTRATEGISTA DE MARCAS, ESPECIALISTA EM EXPERIÊNCIAS E CONTEÚDO MULTICANAL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3540" y="2876315"/>
            <a:ext cx="17118189" cy="9540300"/>
            <a:chOff x="0" y="0"/>
            <a:chExt cx="22824252" cy="1272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24252" cy="12720400"/>
            </a:xfrm>
            <a:custGeom>
              <a:avLst/>
              <a:gdLst/>
              <a:ahLst/>
              <a:cxnLst/>
              <a:rect r="r" b="b" t="t" l="l"/>
              <a:pathLst>
                <a:path h="12720400" w="22824252">
                  <a:moveTo>
                    <a:pt x="0" y="0"/>
                  </a:moveTo>
                  <a:lnTo>
                    <a:pt x="22824252" y="0"/>
                  </a:lnTo>
                  <a:lnTo>
                    <a:pt x="22824252" y="12720400"/>
                  </a:lnTo>
                  <a:lnTo>
                    <a:pt x="0" y="1272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824252" cy="12729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Atualmente, estou dedicada ao meu EMBA em Gestão Empresarial Internacional pela ESIC em Barcelona, onde venho expandindo minha visão estratégica e conexão com o mercado global.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Minha última experiência profissional foi na F/MALTA, onde atuei como consultora sênior de estratégia e criatividade, cocriando projetos imersivos e com propósito para marcas como VTEX, Mercado Livre, Crunchyroll, Einstein, Porto e no rebranding da JUST FEEL.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 Wieden+Kennedy, participei de campanhas culturais e esportivas para Nike e Riot Games, como as ações com Rayssa Leal, Corinthians, ativações de Copa do Mundo e o lançamento da série Arcane.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 agência UMAUMA, liderei projetos premiados para marcas do portfólio Diageo (Johnnie Walker, Baileys, Tanqueray, entre outras) em eventos como BCB e Taste SP, com foco em branding, diversidade e experiências premium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Antes disso, fui Gerente de Marketing da HBO Latin America por 8 anos, liderando campanhas de aquisição, retenção e lançamentos de VOD e streaming. Coordenei os Upfronts, representei o Brasil em eventos internacionais e conduzi campanhas de grandes séries como Game of Thrones, Succession, Westworld e Big Little Lies.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 JWT, atuei com Unilever, coordenando campanhas integradas para Seda, Brilhante e outras marcas, liderando processos como agência guarda-chuva.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 uma profissional que transita com fluidez entre branding, cultura pop, comportamento, performance e inovação. Tenho paixão por contar histórias que geram conexão, desenhar estratégias que constroem marcas com verdade e **liderar projetos com excelência criativa, profundidade cultural e foco em resultados reais. Trabalho sempre com o olhar atento à experiência do consumidor — da ideia à entrega.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31971" y="480521"/>
            <a:ext cx="1150041" cy="1150041"/>
          </a:xfrm>
          <a:custGeom>
            <a:avLst/>
            <a:gdLst/>
            <a:ahLst/>
            <a:cxnLst/>
            <a:rect r="r" b="b" t="t" l="l"/>
            <a:pathLst>
              <a:path h="1150041" w="1150041">
                <a:moveTo>
                  <a:pt x="0" y="0"/>
                </a:moveTo>
                <a:lnTo>
                  <a:pt x="1150041" y="0"/>
                </a:lnTo>
                <a:lnTo>
                  <a:pt x="1150041" y="1150041"/>
                </a:lnTo>
                <a:lnTo>
                  <a:pt x="0" y="1150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495010">
            <a:off x="-419760" y="-789944"/>
            <a:ext cx="19127520" cy="11866888"/>
            <a:chOff x="0" y="0"/>
            <a:chExt cx="25503360" cy="15822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3378" cy="15822549"/>
            </a:xfrm>
            <a:custGeom>
              <a:avLst/>
              <a:gdLst/>
              <a:ahLst/>
              <a:cxnLst/>
              <a:rect r="r" b="b" t="t" l="l"/>
              <a:pathLst>
                <a:path h="15822549" w="25503378">
                  <a:moveTo>
                    <a:pt x="25503378" y="13662025"/>
                  </a:moveTo>
                  <a:lnTo>
                    <a:pt x="1215263" y="15822549"/>
                  </a:lnTo>
                  <a:lnTo>
                    <a:pt x="0" y="2160397"/>
                  </a:lnTo>
                  <a:lnTo>
                    <a:pt x="24288114" y="0"/>
                  </a:lnTo>
                  <a:lnTo>
                    <a:pt x="25503378" y="13662025"/>
                  </a:lnTo>
                  <a:close/>
                </a:path>
              </a:pathLst>
            </a:custGeom>
            <a:blipFill>
              <a:blip r:embed="rId2"/>
              <a:stretch>
                <a:fillRect l="0" t="-15845" r="0" b="-158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5878598" y="4309315"/>
            <a:ext cx="8675781" cy="19050"/>
            <a:chOff x="0" y="0"/>
            <a:chExt cx="11567708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1542268" cy="25400"/>
            </a:xfrm>
            <a:custGeom>
              <a:avLst/>
              <a:gdLst/>
              <a:ahLst/>
              <a:cxnLst/>
              <a:rect r="r" b="b" t="t" l="l"/>
              <a:pathLst>
                <a:path h="25400" w="11542268">
                  <a:moveTo>
                    <a:pt x="0" y="0"/>
                  </a:moveTo>
                  <a:lnTo>
                    <a:pt x="11542268" y="0"/>
                  </a:lnTo>
                  <a:lnTo>
                    <a:pt x="115422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49732" y="5522181"/>
            <a:ext cx="8485807" cy="19050"/>
            <a:chOff x="0" y="0"/>
            <a:chExt cx="11314409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11289030" cy="25400"/>
            </a:xfrm>
            <a:custGeom>
              <a:avLst/>
              <a:gdLst/>
              <a:ahLst/>
              <a:cxnLst/>
              <a:rect r="r" b="b" t="t" l="l"/>
              <a:pathLst>
                <a:path h="25400" w="11289030">
                  <a:moveTo>
                    <a:pt x="0" y="0"/>
                  </a:moveTo>
                  <a:lnTo>
                    <a:pt x="11289030" y="0"/>
                  </a:lnTo>
                  <a:lnTo>
                    <a:pt x="1128903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-2664797" y="3957836"/>
            <a:ext cx="7392848" cy="750583"/>
            <a:chOff x="0" y="0"/>
            <a:chExt cx="9857131" cy="1000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57131" cy="1000778"/>
            </a:xfrm>
            <a:custGeom>
              <a:avLst/>
              <a:gdLst/>
              <a:ahLst/>
              <a:cxnLst/>
              <a:rect r="r" b="b" t="t" l="l"/>
              <a:pathLst>
                <a:path h="1000778" w="9857131">
                  <a:moveTo>
                    <a:pt x="0" y="0"/>
                  </a:moveTo>
                  <a:lnTo>
                    <a:pt x="9857131" y="0"/>
                  </a:lnTo>
                  <a:lnTo>
                    <a:pt x="9857131" y="1000778"/>
                  </a:lnTo>
                  <a:lnTo>
                    <a:pt x="0" y="1000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57131" cy="10388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20"/>
                </a:lnSpc>
              </a:pPr>
              <a:r>
                <a:rPr lang="en-US" sz="20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PORTFÓLIO PROFISSIONAL DE PAULA GALIANO</a:t>
              </a:r>
            </a:p>
            <a:p>
              <a:pPr algn="ctr">
                <a:lnSpc>
                  <a:spcPts val="28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67637" y="6094433"/>
            <a:ext cx="7392848" cy="2101470"/>
            <a:chOff x="0" y="0"/>
            <a:chExt cx="9857131" cy="2801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57131" cy="2801960"/>
            </a:xfrm>
            <a:custGeom>
              <a:avLst/>
              <a:gdLst/>
              <a:ahLst/>
              <a:cxnLst/>
              <a:rect r="r" b="b" t="t" l="l"/>
              <a:pathLst>
                <a:path h="2801960" w="9857131">
                  <a:moveTo>
                    <a:pt x="0" y="0"/>
                  </a:moveTo>
                  <a:lnTo>
                    <a:pt x="9857131" y="0"/>
                  </a:lnTo>
                  <a:lnTo>
                    <a:pt x="9857131" y="2801960"/>
                  </a:lnTo>
                  <a:lnTo>
                    <a:pt x="0" y="2801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857131" cy="28400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20"/>
                </a:lnSpc>
              </a:pPr>
              <a:r>
                <a:rPr lang="en-US" sz="20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Minha jornada é feita de caminhos intensos, encontros transformadores e experiências que desafiaram e expandiram minha visão de mundo. Cada lugar por onde passei contribuiu para construir a profissional que sou hoje — com propósito, coragem e olhar estratégico voltado para o novo.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136" y="9077325"/>
            <a:ext cx="1525843" cy="723519"/>
            <a:chOff x="0" y="0"/>
            <a:chExt cx="2034457" cy="9646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4457" cy="964692"/>
            </a:xfrm>
            <a:custGeom>
              <a:avLst/>
              <a:gdLst/>
              <a:ahLst/>
              <a:cxnLst/>
              <a:rect r="r" b="b" t="t" l="l"/>
              <a:pathLst>
                <a:path h="964692" w="2034457">
                  <a:moveTo>
                    <a:pt x="0" y="0"/>
                  </a:moveTo>
                  <a:lnTo>
                    <a:pt x="2034457" y="0"/>
                  </a:lnTo>
                  <a:lnTo>
                    <a:pt x="2034457" y="964692"/>
                  </a:lnTo>
                  <a:lnTo>
                    <a:pt x="0" y="96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2034457" cy="10504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418"/>
                </a:lnSpc>
              </a:pPr>
              <a:r>
                <a:rPr lang="en-US" sz="420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42294" y="1123950"/>
            <a:ext cx="8164670" cy="2673123"/>
            <a:chOff x="0" y="0"/>
            <a:chExt cx="10886227" cy="35641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86227" cy="3564164"/>
            </a:xfrm>
            <a:custGeom>
              <a:avLst/>
              <a:gdLst/>
              <a:ahLst/>
              <a:cxnLst/>
              <a:rect r="r" b="b" t="t" l="l"/>
              <a:pathLst>
                <a:path h="3564164" w="10886227">
                  <a:moveTo>
                    <a:pt x="0" y="0"/>
                  </a:moveTo>
                  <a:lnTo>
                    <a:pt x="10886227" y="0"/>
                  </a:lnTo>
                  <a:lnTo>
                    <a:pt x="10886227" y="3564164"/>
                  </a:lnTo>
                  <a:lnTo>
                    <a:pt x="0" y="35641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42875"/>
              <a:ext cx="10886227" cy="37070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7012"/>
                </a:lnSpc>
              </a:pPr>
              <a:r>
                <a:rPr lang="en-US" sz="5008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A JORNADA MAIS IMPORTANTE É A NOSSA PRÓPRIA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40314" y="179504"/>
            <a:ext cx="5922797" cy="8374532"/>
            <a:chOff x="0" y="0"/>
            <a:chExt cx="7897063" cy="111660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97063" cy="11166042"/>
            </a:xfrm>
            <a:custGeom>
              <a:avLst/>
              <a:gdLst/>
              <a:ahLst/>
              <a:cxnLst/>
              <a:rect r="r" b="b" t="t" l="l"/>
              <a:pathLst>
                <a:path h="11166042" w="7897063">
                  <a:moveTo>
                    <a:pt x="0" y="0"/>
                  </a:moveTo>
                  <a:lnTo>
                    <a:pt x="7897063" y="0"/>
                  </a:lnTo>
                  <a:lnTo>
                    <a:pt x="7897063" y="11166042"/>
                  </a:lnTo>
                  <a:lnTo>
                    <a:pt x="0" y="11166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897063" cy="112136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SENIOR (NOV 2022 – AGO 2024)</a:t>
              </a:r>
            </a:p>
            <a:p>
              <a:pPr algn="l" marL="495837" indent="-165279" lvl="2">
                <a:lnSpc>
                  <a:spcPts val="3036"/>
                </a:lnSpc>
              </a:pPr>
            </a:p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ACCOUNT MANAGER (JUN 2021 – SET 2022</a:t>
              </a:r>
            </a:p>
            <a:p>
              <a:pPr algn="l" marL="495837" indent="-165279" lvl="2">
                <a:lnSpc>
                  <a:spcPts val="3036"/>
                </a:lnSpc>
              </a:pPr>
            </a:p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UMAUMA (DIAGEO)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 SENIOR ACCOUNT MANAGER (FEV 2019 – NOV 2020)</a:t>
              </a:r>
            </a:p>
            <a:p>
              <a:pPr algn="l" marL="495837" indent="-165279" lvl="2">
                <a:lnSpc>
                  <a:spcPts val="3036"/>
                </a:lnSpc>
              </a:pPr>
            </a:p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HBO LATIN AMERICA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MARKETING MANAGER (JUL 2015 – AGO 2018)/ COORDINATOR (SET 2010 – JUN 2015)</a:t>
              </a:r>
            </a:p>
            <a:p>
              <a:pPr algn="l" marL="495837" indent="-165279" lvl="2">
                <a:lnSpc>
                  <a:spcPts val="3036"/>
                </a:lnSpc>
              </a:pPr>
            </a:p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JWT (UNILEVER)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EXECUTIVE (2009 – 2011)</a:t>
              </a:r>
            </a:p>
            <a:p>
              <a:pPr algn="l" marL="495837" indent="-165279" lvl="2">
                <a:lnSpc>
                  <a:spcPts val="3036"/>
                </a:lnSpc>
              </a:pPr>
            </a:p>
            <a:p>
              <a:pPr algn="l" marL="495837" indent="-165279" lvl="2">
                <a:lnSpc>
                  <a:spcPts val="3036"/>
                </a:lnSpc>
                <a:buFont typeface="Arial"/>
                <a:buChar char="⚬"/>
              </a:pPr>
              <a:r>
                <a:rPr lang="en-US" b="true" sz="216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DPZ PROPAGANDA, TBWA\SP, AMCHAM, STB (</a:t>
              </a:r>
              <a:r>
                <a:rPr lang="en-US" sz="21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EXPERIÊNCIAS ANTERIORES)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495010">
            <a:off x="-419760" y="-789944"/>
            <a:ext cx="19127520" cy="11866888"/>
            <a:chOff x="0" y="0"/>
            <a:chExt cx="25503360" cy="15822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3378" cy="15822549"/>
            </a:xfrm>
            <a:custGeom>
              <a:avLst/>
              <a:gdLst/>
              <a:ahLst/>
              <a:cxnLst/>
              <a:rect r="r" b="b" t="t" l="l"/>
              <a:pathLst>
                <a:path h="15822549" w="25503378">
                  <a:moveTo>
                    <a:pt x="25503378" y="13662025"/>
                  </a:moveTo>
                  <a:lnTo>
                    <a:pt x="1215263" y="15822549"/>
                  </a:lnTo>
                  <a:lnTo>
                    <a:pt x="0" y="2160397"/>
                  </a:lnTo>
                  <a:lnTo>
                    <a:pt x="24288114" y="0"/>
                  </a:lnTo>
                  <a:lnTo>
                    <a:pt x="25503378" y="13662025"/>
                  </a:lnTo>
                  <a:close/>
                </a:path>
              </a:pathLst>
            </a:custGeom>
            <a:blipFill>
              <a:blip r:embed="rId2"/>
              <a:stretch>
                <a:fillRect l="0" t="-15845" r="0" b="-158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5878598" y="4309315"/>
            <a:ext cx="8675781" cy="19050"/>
            <a:chOff x="0" y="0"/>
            <a:chExt cx="11567708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1542268" cy="25400"/>
            </a:xfrm>
            <a:custGeom>
              <a:avLst/>
              <a:gdLst/>
              <a:ahLst/>
              <a:cxnLst/>
              <a:rect r="r" b="b" t="t" l="l"/>
              <a:pathLst>
                <a:path h="25400" w="11542268">
                  <a:moveTo>
                    <a:pt x="0" y="0"/>
                  </a:moveTo>
                  <a:lnTo>
                    <a:pt x="11542268" y="0"/>
                  </a:lnTo>
                  <a:lnTo>
                    <a:pt x="115422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49732" y="5569806"/>
            <a:ext cx="8485807" cy="19050"/>
            <a:chOff x="0" y="0"/>
            <a:chExt cx="11314409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11289030" cy="25400"/>
            </a:xfrm>
            <a:custGeom>
              <a:avLst/>
              <a:gdLst/>
              <a:ahLst/>
              <a:cxnLst/>
              <a:rect r="r" b="b" t="t" l="l"/>
              <a:pathLst>
                <a:path h="25400" w="11289030">
                  <a:moveTo>
                    <a:pt x="0" y="0"/>
                  </a:moveTo>
                  <a:lnTo>
                    <a:pt x="11289030" y="0"/>
                  </a:lnTo>
                  <a:lnTo>
                    <a:pt x="1128903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30682" y="0"/>
            <a:ext cx="8485807" cy="5579331"/>
            <a:chOff x="0" y="0"/>
            <a:chExt cx="11314409" cy="74391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14430" cy="7439152"/>
            </a:xfrm>
            <a:custGeom>
              <a:avLst/>
              <a:gdLst/>
              <a:ahLst/>
              <a:cxnLst/>
              <a:rect r="r" b="b" t="t" l="l"/>
              <a:pathLst>
                <a:path h="7439152" w="11314430">
                  <a:moveTo>
                    <a:pt x="0" y="0"/>
                  </a:moveTo>
                  <a:lnTo>
                    <a:pt x="11314430" y="0"/>
                  </a:lnTo>
                  <a:lnTo>
                    <a:pt x="11314430" y="7439152"/>
                  </a:lnTo>
                  <a:lnTo>
                    <a:pt x="0" y="7439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4" r="0" b="-67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-2870417" y="4163455"/>
            <a:ext cx="7392848" cy="339345"/>
            <a:chOff x="0" y="0"/>
            <a:chExt cx="9857131" cy="45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57131" cy="452460"/>
            </a:xfrm>
            <a:custGeom>
              <a:avLst/>
              <a:gdLst/>
              <a:ahLst/>
              <a:cxnLst/>
              <a:rect r="r" b="b" t="t" l="l"/>
              <a:pathLst>
                <a:path h="452460" w="9857131">
                  <a:moveTo>
                    <a:pt x="0" y="0"/>
                  </a:moveTo>
                  <a:lnTo>
                    <a:pt x="9857131" y="0"/>
                  </a:lnTo>
                  <a:lnTo>
                    <a:pt x="9857131" y="452460"/>
                  </a:lnTo>
                  <a:lnTo>
                    <a:pt x="0" y="452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857131" cy="4905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20"/>
                </a:lnSpc>
              </a:pPr>
              <a:r>
                <a:rPr lang="en-US" sz="20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FORMAÇÃO, IDIOMAS E PERFIL MULTICULTURAL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11739" y="-38100"/>
            <a:ext cx="6103140" cy="9008365"/>
            <a:chOff x="0" y="0"/>
            <a:chExt cx="8137520" cy="120111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37520" cy="12011154"/>
            </a:xfrm>
            <a:custGeom>
              <a:avLst/>
              <a:gdLst/>
              <a:ahLst/>
              <a:cxnLst/>
              <a:rect r="r" b="b" t="t" l="l"/>
              <a:pathLst>
                <a:path h="12011154" w="8137520">
                  <a:moveTo>
                    <a:pt x="0" y="0"/>
                  </a:moveTo>
                  <a:lnTo>
                    <a:pt x="8137520" y="0"/>
                  </a:lnTo>
                  <a:lnTo>
                    <a:pt x="8137520" y="12011154"/>
                  </a:lnTo>
                  <a:lnTo>
                    <a:pt x="0" y="120111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37520" cy="120492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79"/>
                </a:lnSpc>
              </a:pPr>
            </a:p>
            <a:p>
              <a:pPr algn="l">
                <a:lnSpc>
                  <a:spcPts val="2679"/>
                </a:lnSpc>
              </a:pPr>
              <a:r>
                <a:rPr lang="en-US" sz="191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🎓 Formação Acadêmica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• EMBA em Gestão Empresarial Internacional – ESIC Business &amp; Marketing School, Barcelona (2023 – atual)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• Pós-graduação em Marketing – ESPM, São Paulo (2011)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• Bacharelado em Publicidade e Propaganda – FAAP, São Paulo (2006)</a:t>
              </a:r>
            </a:p>
            <a:p>
              <a:pPr algn="l">
                <a:lnSpc>
                  <a:spcPts val="2679"/>
                </a:lnSpc>
              </a:pP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🌍 </a:t>
              </a:r>
              <a:r>
                <a:rPr lang="en-US" sz="191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Idiomas e Perfil Internacional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🇧🇷  Português – nativo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🇦🇷  Espanhol – fluente (filha de argentino)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🇬🇧  Inglês – fluente (intercâmbio no Reino Unido)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🇮🇹  Italiano – iniciante (aulas particulares)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🇪🇸  Residindo em Barcelona desde 2023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🌎  Vivência multicultural e atuação com equipes LATAM</a:t>
              </a:r>
            </a:p>
            <a:p>
              <a:pPr algn="l">
                <a:lnSpc>
                  <a:spcPts val="2679"/>
                </a:lnSpc>
              </a:pP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📚</a:t>
              </a:r>
              <a:r>
                <a:rPr lang="en-US" sz="1914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Certificações e Cursos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🎓  Marketing estratégico, liderança, comunicação e inglês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📊  Data analysis e ferramentas de negócio aplicadas ao marketing</a:t>
              </a:r>
            </a:p>
            <a:p>
              <a:pPr algn="l">
                <a:lnSpc>
                  <a:spcPts val="2679"/>
                </a:lnSpc>
              </a:pPr>
              <a:r>
                <a:rPr lang="en-US" sz="19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💛  Voluntariado em causas sociais e projetos de educação</a:t>
              </a:r>
            </a:p>
            <a:p>
              <a:pPr algn="l">
                <a:lnSpc>
                  <a:spcPts val="28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136" y="9077325"/>
            <a:ext cx="1525843" cy="723519"/>
            <a:chOff x="0" y="0"/>
            <a:chExt cx="2034457" cy="9646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4457" cy="964692"/>
            </a:xfrm>
            <a:custGeom>
              <a:avLst/>
              <a:gdLst/>
              <a:ahLst/>
              <a:cxnLst/>
              <a:rect r="r" b="b" t="t" l="l"/>
              <a:pathLst>
                <a:path h="964692" w="2034457">
                  <a:moveTo>
                    <a:pt x="0" y="0"/>
                  </a:moveTo>
                  <a:lnTo>
                    <a:pt x="2034457" y="0"/>
                  </a:lnTo>
                  <a:lnTo>
                    <a:pt x="2034457" y="964692"/>
                  </a:lnTo>
                  <a:lnTo>
                    <a:pt x="0" y="96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2034457" cy="10504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418"/>
                </a:lnSpc>
              </a:pPr>
              <a:r>
                <a:rPr lang="en-US" sz="420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05442" y="8938929"/>
            <a:ext cx="15253858" cy="967932"/>
            <a:chOff x="0" y="0"/>
            <a:chExt cx="20338477" cy="12905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38478" cy="1290576"/>
            </a:xfrm>
            <a:custGeom>
              <a:avLst/>
              <a:gdLst/>
              <a:ahLst/>
              <a:cxnLst/>
              <a:rect r="r" b="b" t="t" l="l"/>
              <a:pathLst>
                <a:path h="1290576" w="20338478">
                  <a:moveTo>
                    <a:pt x="0" y="0"/>
                  </a:moveTo>
                  <a:lnTo>
                    <a:pt x="20338478" y="0"/>
                  </a:lnTo>
                  <a:lnTo>
                    <a:pt x="20338478" y="1290576"/>
                  </a:lnTo>
                  <a:lnTo>
                    <a:pt x="0" y="12905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0338477" cy="134772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59"/>
                </a:lnSpc>
              </a:pPr>
              <a:r>
                <a:rPr lang="en-US" sz="31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FORMAÇÃO, IDIOMAS E PERFIL MULTICULTURAL</a:t>
              </a:r>
            </a:p>
            <a:p>
              <a:pPr algn="l">
                <a:lnSpc>
                  <a:spcPts val="338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05442" y="5703156"/>
            <a:ext cx="8211047" cy="2277611"/>
            <a:chOff x="0" y="0"/>
            <a:chExt cx="10948063" cy="30368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48063" cy="3036815"/>
            </a:xfrm>
            <a:custGeom>
              <a:avLst/>
              <a:gdLst/>
              <a:ahLst/>
              <a:cxnLst/>
              <a:rect r="r" b="b" t="t" l="l"/>
              <a:pathLst>
                <a:path h="3036815" w="10948063">
                  <a:moveTo>
                    <a:pt x="0" y="0"/>
                  </a:moveTo>
                  <a:lnTo>
                    <a:pt x="10948063" y="0"/>
                  </a:lnTo>
                  <a:lnTo>
                    <a:pt x="10948063" y="3036815"/>
                  </a:lnTo>
                  <a:lnTo>
                    <a:pt x="0" y="3036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948063" cy="309396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11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MINHA TRAJETÓRIA É MOVIDA PELO CONHECIMENTO, ENRIQUECIDA PELA DIVERSIDADE E GUIADA PELA BUSCA CONSTANTE DE EVOLUÇÃO — ACADÊMICA, CULTURAL E HUMANA.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3633186"/>
            <a:ext cx="12344400" cy="3010581"/>
            <a:chOff x="0" y="0"/>
            <a:chExt cx="16459200" cy="4014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4014108"/>
            </a:xfrm>
            <a:custGeom>
              <a:avLst/>
              <a:gdLst/>
              <a:ahLst/>
              <a:cxnLst/>
              <a:rect r="r" b="b" t="t" l="l"/>
              <a:pathLst>
                <a:path h="401410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014108"/>
                  </a:lnTo>
                  <a:lnTo>
                    <a:pt x="0" y="4014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4023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</a:t>
              </a: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8692" y="3238528"/>
            <a:ext cx="12530617" cy="7048472"/>
            <a:chOff x="0" y="0"/>
            <a:chExt cx="16707489" cy="93979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07486" cy="9398000"/>
            </a:xfrm>
            <a:custGeom>
              <a:avLst/>
              <a:gdLst/>
              <a:ahLst/>
              <a:cxnLst/>
              <a:rect r="r" b="b" t="t" l="l"/>
              <a:pathLst>
                <a:path h="9398000" w="16707486">
                  <a:moveTo>
                    <a:pt x="0" y="0"/>
                  </a:moveTo>
                  <a:lnTo>
                    <a:pt x="16707486" y="0"/>
                  </a:lnTo>
                  <a:lnTo>
                    <a:pt x="16707486" y="9398000"/>
                  </a:lnTo>
                  <a:lnTo>
                    <a:pt x="0" y="939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025309" y="8457119"/>
            <a:ext cx="705931" cy="705931"/>
          </a:xfrm>
          <a:custGeom>
            <a:avLst/>
            <a:gdLst/>
            <a:ahLst/>
            <a:cxnLst/>
            <a:rect r="r" b="b" t="t" l="l"/>
            <a:pathLst>
              <a:path h="705931" w="705931">
                <a:moveTo>
                  <a:pt x="0" y="0"/>
                </a:moveTo>
                <a:lnTo>
                  <a:pt x="705931" y="0"/>
                </a:lnTo>
                <a:lnTo>
                  <a:pt x="705931" y="705931"/>
                </a:lnTo>
                <a:lnTo>
                  <a:pt x="0" y="70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67800" y="8480366"/>
            <a:ext cx="659436" cy="659436"/>
          </a:xfrm>
          <a:custGeom>
            <a:avLst/>
            <a:gdLst/>
            <a:ahLst/>
            <a:cxnLst/>
            <a:rect r="r" b="b" t="t" l="l"/>
            <a:pathLst>
              <a:path h="659436" w="659436">
                <a:moveTo>
                  <a:pt x="0" y="0"/>
                </a:moveTo>
                <a:lnTo>
                  <a:pt x="659436" y="0"/>
                </a:lnTo>
                <a:lnTo>
                  <a:pt x="659436" y="659436"/>
                </a:lnTo>
                <a:lnTo>
                  <a:pt x="0" y="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136" y="9077325"/>
            <a:ext cx="1525843" cy="723519"/>
            <a:chOff x="0" y="0"/>
            <a:chExt cx="2034457" cy="9646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4457" cy="964692"/>
            </a:xfrm>
            <a:custGeom>
              <a:avLst/>
              <a:gdLst/>
              <a:ahLst/>
              <a:cxnLst/>
              <a:rect r="r" b="b" t="t" l="l"/>
              <a:pathLst>
                <a:path h="964692" w="2034457">
                  <a:moveTo>
                    <a:pt x="0" y="0"/>
                  </a:moveTo>
                  <a:lnTo>
                    <a:pt x="2034457" y="0"/>
                  </a:lnTo>
                  <a:lnTo>
                    <a:pt x="2034457" y="964692"/>
                  </a:lnTo>
                  <a:lnTo>
                    <a:pt x="0" y="964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034457" cy="10504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418"/>
                </a:lnSpc>
              </a:pPr>
              <a:r>
                <a:rPr lang="en-US" sz="420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936" y="1854433"/>
            <a:ext cx="17046364" cy="8737367"/>
            <a:chOff x="0" y="0"/>
            <a:chExt cx="22728485" cy="11649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8486" cy="11649823"/>
            </a:xfrm>
            <a:custGeom>
              <a:avLst/>
              <a:gdLst/>
              <a:ahLst/>
              <a:cxnLst/>
              <a:rect r="r" b="b" t="t" l="l"/>
              <a:pathLst>
                <a:path h="11649823" w="22728486">
                  <a:moveTo>
                    <a:pt x="0" y="0"/>
                  </a:moveTo>
                  <a:lnTo>
                    <a:pt x="22728486" y="0"/>
                  </a:lnTo>
                  <a:lnTo>
                    <a:pt x="22728486" y="11649823"/>
                  </a:lnTo>
                  <a:lnTo>
                    <a:pt x="0" y="1164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728485" cy="116498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47"/>
                </a:lnSpc>
              </a:pPr>
              <a:r>
                <a:rPr lang="en-US" sz="20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</a:t>
              </a: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EVENTO DE INAUGURAÇÃO CENTRO DE ENSINO E PESQUISA ALBERT EINSTEIN</a:t>
              </a:r>
            </a:p>
            <a:p>
              <a:pPr algn="l">
                <a:lnSpc>
                  <a:spcPts val="2447"/>
                </a:lnSpc>
              </a:pPr>
              <a:r>
                <a:rPr lang="en-US" sz="20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Albert Einstein</a:t>
              </a:r>
            </a:p>
            <a:p>
              <a:pPr algn="l">
                <a:lnSpc>
                  <a:spcPts val="2447"/>
                </a:lnSpc>
              </a:pPr>
              <a:r>
                <a:rPr lang="en-US" sz="20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</a:t>
              </a:r>
            </a:p>
            <a:p>
              <a:pPr algn="l">
                <a:lnSpc>
                  <a:spcPts val="2447"/>
                </a:lnSpc>
              </a:pPr>
              <a:r>
                <a:rPr lang="en-US" sz="20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 senior</a:t>
              </a:r>
            </a:p>
            <a:p>
              <a:pPr algn="l">
                <a:lnSpc>
                  <a:spcPts val="2447"/>
                </a:lnSpc>
              </a:pPr>
              <a:r>
                <a:rPr lang="en-US" sz="20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Evento de celebração do primeiro ano do Centro de Ensino e Pesquisa do Hospital Albert Einstein, com a presença de políticos e lideranças do setor. Um projeto premium, com mais de 5 meses de planejamento, desenvolvido desde a concepção até a execução final.</a:t>
              </a:r>
            </a:p>
            <a:p>
              <a:pPr algn="l">
                <a:lnSpc>
                  <a:spcPts val="2447"/>
                </a:lnSpc>
              </a:pPr>
            </a:p>
            <a:p>
              <a:pPr algn="l" marL="377393" indent="-125798" lvl="2">
                <a:lnSpc>
                  <a:spcPts val="2447"/>
                </a:lnSpc>
                <a:buFont typeface="Arial"/>
                <a:buChar char="⚬"/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Nossa equipe foi responsável por todas as etapas: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Plenária com apresentações e curadoria de conteúdo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Credenciamento e gestão de convidados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Decoração personalizada de todos os ambientes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Catering completo, atração musical e brindes premium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Contratação de empresa especializada para gestão de mailing, protocolo e atendimento a nomes de peso durante o evento</a:t>
              </a:r>
            </a:p>
            <a:p>
              <a:pPr algn="l" marL="377393" indent="-125798" lvl="2">
                <a:lnSpc>
                  <a:spcPts val="2447"/>
                </a:lnSpc>
                <a:buFont typeface="Arial"/>
                <a:buChar char="⚬"/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Participei ativamente de todas as fases do projeto — da criação à implementação.</a:t>
              </a:r>
            </a:p>
            <a:p>
              <a:pPr algn="l" marL="377393" indent="-125798" lvl="2">
                <a:lnSpc>
                  <a:spcPts val="2447"/>
                </a:lnSpc>
              </a:pP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📸 Álbum de Fotos da Cerimônia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Câmara Municipal de São Paulo disponibilizou um álbum com imagens da cerimônia de apresentação do centro, que ocorreu em 2 de março de 2023. As fotos foram capturadas pelo fotógrafo Afonso Braga e estão acessíveis no Flickr:​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Cerimônia de Apresentação do Centro de Ensino e Pesquisa Albert Einstein - 02/03/2023</a:t>
              </a:r>
            </a:p>
            <a:p>
              <a:pPr algn="l" marL="377393" indent="-125798" lvl="2">
                <a:lnSpc>
                  <a:spcPts val="2447"/>
                </a:lnSpc>
              </a:pP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🎥 Vídeo Institucional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Além disso, o Einstein produziu um vídeo institucional que oferece uma visão abrangente do novo centro, destacando sua arquitetura inovadora e as instalações de ponta. Este vídeo está disponível no YouTube:​</a:t>
              </a:r>
            </a:p>
            <a:p>
              <a:pPr algn="l" marL="377393" indent="-125798" lvl="2">
                <a:lnSpc>
                  <a:spcPts val="2447"/>
                </a:lnSpc>
              </a:pPr>
              <a:r>
                <a:rPr lang="en-US" sz="20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04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youtube.com/watch?v=L5t3vSSkb6E"/>
                </a:rPr>
                <a:t>A Jornada do Einstein | Centro de Ensino e Pesquisa Albert Einstein</a:t>
              </a:r>
            </a:p>
            <a:p>
              <a:pPr algn="l" marL="377393" indent="-125798" lvl="2">
                <a:lnSpc>
                  <a:spcPts val="1020"/>
                </a:lnSpc>
              </a:pPr>
            </a:p>
            <a:p>
              <a:pPr algn="l" marL="377393" indent="-125798" lvl="2">
                <a:lnSpc>
                  <a:spcPts val="2447"/>
                </a:lnSpc>
              </a:pPr>
            </a:p>
            <a:p>
              <a:pPr algn="l" marL="377393" indent="-125798" lvl="2">
                <a:lnSpc>
                  <a:spcPts val="24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55205" y="8849732"/>
            <a:ext cx="2485170" cy="1306718"/>
            <a:chOff x="0" y="0"/>
            <a:chExt cx="3313560" cy="17422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3557" cy="1742313"/>
            </a:xfrm>
            <a:custGeom>
              <a:avLst/>
              <a:gdLst/>
              <a:ahLst/>
              <a:cxnLst/>
              <a:rect r="r" b="b" t="t" l="l"/>
              <a:pathLst>
                <a:path h="1742313" w="3313557">
                  <a:moveTo>
                    <a:pt x="0" y="0"/>
                  </a:moveTo>
                  <a:lnTo>
                    <a:pt x="3313557" y="0"/>
                  </a:lnTo>
                  <a:lnTo>
                    <a:pt x="3313557" y="1742313"/>
                  </a:lnTo>
                  <a:lnTo>
                    <a:pt x="0" y="1742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255" y="2400300"/>
            <a:ext cx="17258579" cy="6788944"/>
            <a:chOff x="0" y="0"/>
            <a:chExt cx="23011439" cy="905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1439" cy="9051925"/>
            </a:xfrm>
            <a:custGeom>
              <a:avLst/>
              <a:gdLst/>
              <a:ahLst/>
              <a:cxnLst/>
              <a:rect r="r" b="b" t="t" l="l"/>
              <a:pathLst>
                <a:path h="9051925" w="23011439">
                  <a:moveTo>
                    <a:pt x="0" y="0"/>
                  </a:moveTo>
                  <a:lnTo>
                    <a:pt x="23011439" y="0"/>
                  </a:lnTo>
                  <a:lnTo>
                    <a:pt x="23011439" y="9051925"/>
                  </a:lnTo>
                  <a:lnTo>
                    <a:pt x="0" y="9051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011439" cy="9051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MERCADO ADS - A NOVA ERA DA PUBLICIDADE DIGITAL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Mercado Livre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 senior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Ativação de posicionamento estratégico para o Mercado Ads, por meio de um evento exclusivo e imersivo que colocou a marca como protagonista de uma nova Era da publicidade digital.</a:t>
              </a: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ambiente foi concebido como uma galeria de arte, com obras criadas por inteligência artificial. Cada detalhe – da cenografia à agenda do dia – foi desenhado para amplificar a mensagem central do evento, criando uma experiência memorável desde o primeiro momento.</a:t>
              </a: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Pensamento criativo e estratégia caminharam juntos para entregar um projeto com impacto real e inovador.</a:t>
              </a:r>
            </a:p>
            <a:p>
              <a:pPr algn="l" marL="480991" indent="-160330" lvl="2">
                <a:lnSpc>
                  <a:spcPts val="3120"/>
                </a:lnSpc>
              </a:pP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</a:t>
              </a: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://www.instagram.com/p/Crb4WWCA36K/"/>
                </a:rPr>
                <a:t> Ver no Instagram</a:t>
              </a:r>
            </a:p>
            <a:p>
              <a:pPr algn="l" marL="480991" indent="-160330" lvl="2">
                <a:lnSpc>
                  <a:spcPts val="3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14905" y="9049228"/>
            <a:ext cx="2354045" cy="1237772"/>
            <a:chOff x="0" y="0"/>
            <a:chExt cx="3138727" cy="16503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8678" cy="1650365"/>
            </a:xfrm>
            <a:custGeom>
              <a:avLst/>
              <a:gdLst/>
              <a:ahLst/>
              <a:cxnLst/>
              <a:rect r="r" b="b" t="t" l="l"/>
              <a:pathLst>
                <a:path h="1650365" w="3138678">
                  <a:moveTo>
                    <a:pt x="0" y="0"/>
                  </a:moveTo>
                  <a:lnTo>
                    <a:pt x="3138678" y="0"/>
                  </a:lnTo>
                  <a:lnTo>
                    <a:pt x="3138678" y="1650365"/>
                  </a:lnTo>
                  <a:lnTo>
                    <a:pt x="0" y="165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2" r="-1" b="-10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192" y="2400300"/>
            <a:ext cx="17532808" cy="7489313"/>
            <a:chOff x="0" y="0"/>
            <a:chExt cx="23377077" cy="9985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77077" cy="9985751"/>
            </a:xfrm>
            <a:custGeom>
              <a:avLst/>
              <a:gdLst/>
              <a:ahLst/>
              <a:cxnLst/>
              <a:rect r="r" b="b" t="t" l="l"/>
              <a:pathLst>
                <a:path h="9985751" w="23377077">
                  <a:moveTo>
                    <a:pt x="0" y="0"/>
                  </a:moveTo>
                  <a:lnTo>
                    <a:pt x="23377077" y="0"/>
                  </a:lnTo>
                  <a:lnTo>
                    <a:pt x="23377077" y="9985751"/>
                  </a:lnTo>
                  <a:lnTo>
                    <a:pt x="0" y="9985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377077" cy="99857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VTEX DAY 2023 – A MAIOR EDIÇÃO DA HISTÓRIA</a:t>
              </a:r>
            </a:p>
            <a:p>
              <a:pPr algn="l">
                <a:lnSpc>
                  <a:spcPts val="3095"/>
                </a:lnSpc>
              </a:pPr>
              <a:r>
                <a:rPr lang="en-US" sz="25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VTEX</a:t>
              </a:r>
            </a:p>
            <a:p>
              <a:pPr algn="l">
                <a:lnSpc>
                  <a:spcPts val="3095"/>
                </a:lnSpc>
              </a:pPr>
              <a:r>
                <a:rPr lang="en-US" sz="25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</a:t>
              </a:r>
            </a:p>
            <a:p>
              <a:pPr algn="l">
                <a:lnSpc>
                  <a:spcPts val="3095"/>
                </a:lnSpc>
              </a:pPr>
              <a:r>
                <a:rPr lang="en-US" sz="25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3095"/>
                </a:lnSpc>
              </a:pPr>
              <a:r>
                <a:rPr lang="en-US" sz="25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mais de 7 meses de trabalho intenso, gerenciei a entrega da maior edição do VTEX DAY — um dos maiores eventos de digital commerce do mundo.</a:t>
              </a:r>
            </a:p>
            <a:p>
              <a:pPr algn="l" marL="477170" indent="-159057" lvl="2">
                <a:lnSpc>
                  <a:spcPts val="3095"/>
                </a:lnSpc>
                <a:buFont typeface="Arial"/>
                <a:buChar char="⚬"/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Essa edição histórica reuniu 20 mil pessoas por dia, contou com cerca de 250 expositores, e envolveu mais de 7.000 colaboradores diretos e indiretos.</a:t>
              </a:r>
            </a:p>
            <a:p>
              <a:pPr algn="l" marL="477170" indent="-159057" lvl="2">
                <a:lnSpc>
                  <a:spcPts val="3095"/>
                </a:lnSpc>
                <a:buFont typeface="Arial"/>
                <a:buChar char="⚬"/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Além da atmosfera grandiosa do evento, produzimos espaços personalizados e trouxemos cases inspiradores, mostrando o que já pode ser planejado para os próximos anos.</a:t>
              </a:r>
            </a:p>
            <a:p>
              <a:pPr algn="l" marL="477170" indent="-159057" lvl="2">
                <a:lnSpc>
                  <a:spcPts val="3095"/>
                </a:lnSpc>
                <a:buFont typeface="Arial"/>
                <a:buChar char="⚬"/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 impacto direto no ecossistema de negócios digitais, o VTEX DAY transformou vidas, impulsionou marcas e reafirmou o protagonismo do Brasil na inovação para e-commerce global.</a:t>
              </a:r>
            </a:p>
            <a:p>
              <a:pPr algn="l" marL="477170" indent="-159057" lvl="2">
                <a:lnSpc>
                  <a:spcPts val="3095"/>
                </a:lnSpc>
                <a:buFont typeface="Arial"/>
                <a:buChar char="⚬"/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do projeto desde o planejamento até a entrega final, garantindo excelência em cada etapa.</a:t>
              </a:r>
            </a:p>
            <a:p>
              <a:pPr algn="l" marL="477170" indent="-159057" lvl="2">
                <a:lnSpc>
                  <a:spcPts val="3095"/>
                </a:lnSpc>
              </a:pPr>
            </a:p>
            <a:p>
              <a:pPr algn="l" marL="477170" indent="-159057" lvl="2">
                <a:lnSpc>
                  <a:spcPts val="3095"/>
                </a:lnSpc>
                <a:buFont typeface="Arial"/>
                <a:buChar char="⚬"/>
              </a:pPr>
              <a:r>
                <a:rPr lang="en-US" sz="25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5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tg-F_egJie/?img_index=6"/>
                </a:rPr>
                <a:t>Ver no Instagram </a:t>
              </a:r>
            </a:p>
            <a:p>
              <a:pPr algn="l" marL="477170" indent="-159057" lvl="2">
                <a:lnSpc>
                  <a:spcPts val="3095"/>
                </a:lnSpc>
              </a:pPr>
            </a:p>
            <a:p>
              <a:pPr algn="l" marL="477170" indent="-159057" lvl="2">
                <a:lnSpc>
                  <a:spcPts val="27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60004" y="9384259"/>
            <a:ext cx="2687392" cy="902741"/>
            <a:chOff x="0" y="0"/>
            <a:chExt cx="3583189" cy="1203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3178" cy="1203706"/>
            </a:xfrm>
            <a:custGeom>
              <a:avLst/>
              <a:gdLst/>
              <a:ahLst/>
              <a:cxnLst/>
              <a:rect r="r" b="b" t="t" l="l"/>
              <a:pathLst>
                <a:path h="1203706" w="3583178">
                  <a:moveTo>
                    <a:pt x="0" y="0"/>
                  </a:moveTo>
                  <a:lnTo>
                    <a:pt x="3583178" y="0"/>
                  </a:lnTo>
                  <a:lnTo>
                    <a:pt x="3583178" y="1203706"/>
                  </a:lnTo>
                  <a:lnTo>
                    <a:pt x="0" y="120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" t="0" r="-100" b="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7014" y="2379389"/>
            <a:ext cx="16462286" cy="6948833"/>
            <a:chOff x="0" y="0"/>
            <a:chExt cx="21949715" cy="9265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9714" cy="9265110"/>
            </a:xfrm>
            <a:custGeom>
              <a:avLst/>
              <a:gdLst/>
              <a:ahLst/>
              <a:cxnLst/>
              <a:rect r="r" b="b" t="t" l="l"/>
              <a:pathLst>
                <a:path h="9265110" w="21949714">
                  <a:moveTo>
                    <a:pt x="0" y="0"/>
                  </a:moveTo>
                  <a:lnTo>
                    <a:pt x="21949714" y="0"/>
                  </a:lnTo>
                  <a:lnTo>
                    <a:pt x="21949714" y="9265110"/>
                  </a:lnTo>
                  <a:lnTo>
                    <a:pt x="0" y="9265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9715" cy="92651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</a:t>
              </a: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FESTA DE FINAL DE ANO – PORTO</a:t>
              </a:r>
            </a:p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Porto</a:t>
              </a:r>
            </a:p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2023</a:t>
              </a:r>
            </a:p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3168"/>
                </a:lnSpc>
              </a:pPr>
              <a:r>
                <a:rPr lang="en-US" sz="26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168"/>
                </a:lnSpc>
              </a:pP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Foram nove meses de planejamento, três dias de celebração, mais de 10 mil convidados e 100 horas de produção para realizar uma das festas corporativas mais significativas do ano.</a:t>
              </a:r>
            </a:p>
            <a:p>
              <a:pPr algn="l" marL="488390" indent="-162797" lvl="2">
                <a:lnSpc>
                  <a:spcPts val="3168"/>
                </a:lnSpc>
                <a:buFont typeface="Arial"/>
                <a:buChar char="⚬"/>
              </a:pP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confraternização de fim de ano da Porto foi pensada como uma ação estratégica de reconhecimento e engajamento, celebrando os resultados do ano e renovando o compromisso coletivo com os desafios futuros.</a:t>
              </a:r>
            </a:p>
            <a:p>
              <a:pPr algn="l" marL="488390" indent="-162797" lvl="2">
                <a:lnSpc>
                  <a:spcPts val="3168"/>
                </a:lnSpc>
                <a:buFont typeface="Arial"/>
                <a:buChar char="⚬"/>
              </a:pP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Porto confiou à nossa equipe a missão de criar uma experiência marcante e humana, e entregamos um projeto grandioso que uniu propósito, emoção e celebração.</a:t>
              </a:r>
            </a:p>
            <a:p>
              <a:pPr algn="l" marL="488390" indent="-162797" lvl="2">
                <a:lnSpc>
                  <a:spcPts val="3168"/>
                </a:lnSpc>
                <a:buFont typeface="Arial"/>
                <a:buChar char="⚬"/>
              </a:pP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de toda a operação, liderando desde o planejamento até a entrega final, com orgulho imenso de fazer parte dessa história.</a:t>
              </a:r>
            </a:p>
            <a:p>
              <a:pPr algn="l" marL="488390" indent="-162797" lvl="2">
                <a:lnSpc>
                  <a:spcPts val="3168"/>
                </a:lnSpc>
              </a:pPr>
            </a:p>
            <a:p>
              <a:pPr algn="l" marL="488390" indent="-162797" lvl="2">
                <a:lnSpc>
                  <a:spcPts val="3168"/>
                </a:lnSpc>
                <a:buFont typeface="Arial"/>
                <a:buChar char="⚬"/>
              </a:pPr>
              <a:r>
                <a:rPr lang="en-US" sz="26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64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1IRVc5gucs/?img_index=1"/>
                </a:rPr>
                <a:t>Ver no Instagram</a:t>
              </a:r>
            </a:p>
            <a:p>
              <a:pPr algn="l" marL="488390" indent="-162797" lvl="2">
                <a:lnSpc>
                  <a:spcPts val="31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85727" y="8894894"/>
            <a:ext cx="1202273" cy="1392106"/>
            <a:chOff x="0" y="0"/>
            <a:chExt cx="1603031" cy="1856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2994" cy="1856105"/>
            </a:xfrm>
            <a:custGeom>
              <a:avLst/>
              <a:gdLst/>
              <a:ahLst/>
              <a:cxnLst/>
              <a:rect r="r" b="b" t="t" l="l"/>
              <a:pathLst>
                <a:path h="1856105" w="1602994">
                  <a:moveTo>
                    <a:pt x="0" y="0"/>
                  </a:moveTo>
                  <a:lnTo>
                    <a:pt x="1602994" y="0"/>
                  </a:lnTo>
                  <a:lnTo>
                    <a:pt x="1602994" y="1856105"/>
                  </a:lnTo>
                  <a:lnTo>
                    <a:pt x="0" y="1856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" t="0" r="-137" b="-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989" y="2400300"/>
            <a:ext cx="16944908" cy="6788944"/>
            <a:chOff x="0" y="0"/>
            <a:chExt cx="22593211" cy="905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93210" cy="9051925"/>
            </a:xfrm>
            <a:custGeom>
              <a:avLst/>
              <a:gdLst/>
              <a:ahLst/>
              <a:cxnLst/>
              <a:rect r="r" b="b" t="t" l="l"/>
              <a:pathLst>
                <a:path h="9051925" w="22593210">
                  <a:moveTo>
                    <a:pt x="0" y="0"/>
                  </a:moveTo>
                  <a:lnTo>
                    <a:pt x="22593210" y="0"/>
                  </a:lnTo>
                  <a:lnTo>
                    <a:pt x="22593210" y="9051925"/>
                  </a:lnTo>
                  <a:lnTo>
                    <a:pt x="0" y="9051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593211" cy="9051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REBRANDING MARCA F/MALTA - JUST FEEL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F/MALTA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Nada mudou na essência, mas o rebranding da F/MALTA marcou um novo momento: traduzir de forma mais clara e sensível como o nosso jeito de fazer transforma estratégia em grandes experiências.</a:t>
              </a:r>
            </a:p>
            <a:p>
              <a:pPr algn="l" marL="480937" indent="-160312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projeto envolveu o redesenho da identidade da marca e a criação de um universo sensorial que conecta propósito, estética e entrega — tudo traduzido sob o conceito JUST FEEL.</a:t>
              </a:r>
            </a:p>
            <a:p>
              <a:pPr algn="l" marL="480937" indent="-160312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Participei diretamente da gestão do projeto, garantindo que cada ponto de contato refletisse a alma da marca de forma autêntica e contemporânea.</a:t>
              </a:r>
            </a:p>
            <a:p>
              <a:pPr algn="l" marL="480937" indent="-160312" lvl="2">
                <a:lnSpc>
                  <a:spcPts val="3120"/>
                </a:lnSpc>
              </a:pPr>
            </a:p>
            <a:p>
              <a:pPr algn="l" marL="443993" indent="-147998" lvl="2">
                <a:lnSpc>
                  <a:spcPts val="2879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4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5TJWgnrUP-/"/>
                </a:rPr>
                <a:t>VER NO INSTAGRAM</a:t>
              </a:r>
            </a:p>
            <a:p>
              <a:pPr algn="l" marL="480992" indent="-160331" lvl="2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68332" y="8999034"/>
            <a:ext cx="2381937" cy="1429162"/>
            <a:chOff x="0" y="0"/>
            <a:chExt cx="3175916" cy="19055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889" cy="1905508"/>
            </a:xfrm>
            <a:custGeom>
              <a:avLst/>
              <a:gdLst/>
              <a:ahLst/>
              <a:cxnLst/>
              <a:rect r="r" b="b" t="t" l="l"/>
              <a:pathLst>
                <a:path h="1905508" w="3175889">
                  <a:moveTo>
                    <a:pt x="0" y="0"/>
                  </a:moveTo>
                  <a:lnTo>
                    <a:pt x="3175889" y="0"/>
                  </a:lnTo>
                  <a:lnTo>
                    <a:pt x="3175889" y="1905508"/>
                  </a:lnTo>
                  <a:lnTo>
                    <a:pt x="0" y="1905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4" b="-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7900" y="2400300"/>
            <a:ext cx="17700100" cy="7880320"/>
            <a:chOff x="0" y="0"/>
            <a:chExt cx="23600133" cy="10507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00133" cy="10507094"/>
            </a:xfrm>
            <a:custGeom>
              <a:avLst/>
              <a:gdLst/>
              <a:ahLst/>
              <a:cxnLst/>
              <a:rect r="r" b="b" t="t" l="l"/>
              <a:pathLst>
                <a:path h="10507094" w="23600133">
                  <a:moveTo>
                    <a:pt x="0" y="0"/>
                  </a:moveTo>
                  <a:lnTo>
                    <a:pt x="23600133" y="0"/>
                  </a:lnTo>
                  <a:lnTo>
                    <a:pt x="23600133" y="10507094"/>
                  </a:lnTo>
                  <a:lnTo>
                    <a:pt x="0" y="10507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600133" cy="105070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CINE MERCADO PLAY – STREAMING + EXPERIÊNCIA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Mercado Livre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Gerente de Projetos Sênior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Cine Mercado Play foi uma experiência criada para encantar e conectar os colaboradores do Mercado Livre durante o lançamento do novo serviço de streaming Mercado Play.​</a:t>
              </a: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Realizado na sede da empresa, em São Paulo, o evento reuniu mais de 1.100 pessoas ao longo de 4 noites de cinema ao ar livre, com exibição de clássicos do cinema, pipoca e refrigerante personalizados, iluminação especial e ambientação aconchegante.​</a:t>
              </a: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ativação também foi pensada para apresentar as novidades do programa Meli+, gerando engajamento e senso de pertencimento entre as equipes em uma atmosfera afetiva e memorável.​</a:t>
              </a: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Liderei o projeto desde o planejamento até a entrega final, coordenando toda a operação, cenografia, experiências e comunicação no local.​</a:t>
              </a:r>
            </a:p>
            <a:p>
              <a:pPr algn="l" marL="480991" indent="-160330" lvl="2">
                <a:lnSpc>
                  <a:spcPts val="3120"/>
                </a:lnSpc>
              </a:pPr>
            </a:p>
            <a:p>
              <a:pPr algn="l" marL="480937" indent="-160312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🏆 PRÊMIO: Vencedor do Prêmio Caio 2024 – Categoria Evento de Endomarketing</a:t>
              </a:r>
            </a:p>
            <a:p>
              <a:pPr algn="l" marL="480937" indent="-160312" lvl="2">
                <a:lnSpc>
                  <a:spcPts val="3120"/>
                </a:lnSpc>
              </a:pPr>
            </a:p>
            <a:p>
              <a:pPr algn="l" marL="480991" indent="-16033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6gaxwkAFCr/?img_index=1"/>
                </a:rPr>
                <a:t>Ver no Instagram – post 1</a:t>
              </a:r>
            </a:p>
            <a:p>
              <a:pPr algn="l" marL="480991" indent="-160330" lvl="2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_1S1jjPq5A/"/>
                </a:rPr>
                <a:t>Ver no Instagram – post 2</a:t>
              </a:r>
            </a:p>
            <a:p>
              <a:pPr algn="l" marL="480991" indent="-160330" lvl="2">
                <a:lnSpc>
                  <a:spcPts val="273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84990" y="8811073"/>
            <a:ext cx="3837419" cy="1955373"/>
            <a:chOff x="0" y="0"/>
            <a:chExt cx="5116559" cy="2607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6576" cy="2607183"/>
            </a:xfrm>
            <a:custGeom>
              <a:avLst/>
              <a:gdLst/>
              <a:ahLst/>
              <a:cxnLst/>
              <a:rect r="r" b="b" t="t" l="l"/>
              <a:pathLst>
                <a:path h="2607183" w="5116576">
                  <a:moveTo>
                    <a:pt x="0" y="0"/>
                  </a:moveTo>
                  <a:lnTo>
                    <a:pt x="5116576" y="0"/>
                  </a:lnTo>
                  <a:lnTo>
                    <a:pt x="5116576" y="2607183"/>
                  </a:lnTo>
                  <a:lnTo>
                    <a:pt x="0" y="2607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7750" y="1854418"/>
            <a:ext cx="17700100" cy="8270845"/>
            <a:chOff x="0" y="0"/>
            <a:chExt cx="23600133" cy="110277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00133" cy="11027794"/>
            </a:xfrm>
            <a:custGeom>
              <a:avLst/>
              <a:gdLst/>
              <a:ahLst/>
              <a:cxnLst/>
              <a:rect r="r" b="b" t="t" l="l"/>
              <a:pathLst>
                <a:path h="11027794" w="23600133">
                  <a:moveTo>
                    <a:pt x="0" y="0"/>
                  </a:moveTo>
                  <a:lnTo>
                    <a:pt x="23600133" y="0"/>
                  </a:lnTo>
                  <a:lnTo>
                    <a:pt x="23600133" y="11027794"/>
                  </a:lnTo>
                  <a:lnTo>
                    <a:pt x="0" y="110277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600133" cy="110277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VTEX DAY 2024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VTEX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Gerente de Projetos Sênior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Atuei como Gerente de Projeto Sênior no VTEX DAY 2024, um dos maiores eventos de comércio digital do mundo, realizado nos dias 11 e 12 de abril no São Paulo Expo. O evento contou com mais de 20 mil participantes por dia, 230 expositores e mais de 120 horas de conteúdo distribuídas em 8 palcos. 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Minha atuação contribuiu para o sucesso do VTEX DAY 2024, fortalecendo a posição da VTEX como líder em soluções de comércio digital e proporcionando uma experiência enriquecedora para todos os participantes.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Principais Responsabilidades:</a:t>
              </a:r>
            </a:p>
            <a:p>
              <a:pPr algn="l" marL="594361" indent="-19812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Coordenação de equipes multidisciplinares para garantir a execução eficiente do evento.</a:t>
              </a:r>
            </a:p>
            <a:p>
              <a:pPr algn="l" marL="594361" indent="-19812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Gestão de cronogramas e orçamentos, assegurando o cumprimento dos prazos e metas estabelecidos.</a:t>
              </a:r>
            </a:p>
            <a:p>
              <a:pPr algn="l" marL="594361" indent="-19812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Supervisão da montagem e operação dos estandes e áreas de exposição.</a:t>
              </a:r>
            </a:p>
            <a:p>
              <a:pPr algn="l" marL="594361" indent="-198120" lvl="2">
                <a:lnSpc>
                  <a:spcPts val="312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Interface com clientes, fornecedores, palestrantes e stakeholders para alinhamento de expectativas e entregas.​</a:t>
              </a:r>
            </a:p>
            <a:p>
              <a:pPr algn="l" marL="594361" indent="-198120" lvl="2">
                <a:lnSpc>
                  <a:spcPts val="3120"/>
                </a:lnSpc>
              </a:pPr>
            </a:p>
            <a:p>
              <a:pPr algn="l" marL="594361" indent="-198120" lvl="2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🔗 </a:t>
              </a: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5o_ZKWvP03/"/>
                </a:rPr>
                <a:t>Ver no Instagram – post 1</a:t>
              </a:r>
            </a:p>
            <a:p>
              <a:pPr algn="l" marL="594361" indent="-198120" lvl="2">
                <a:lnSpc>
                  <a:spcPts val="3120"/>
                </a:lnSpc>
              </a:pP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5rqYpUNTGw/"/>
                </a:rPr>
                <a:t>🔗 Ver no Instagram – post 2</a:t>
              </a:r>
            </a:p>
            <a:p>
              <a:pPr algn="l" marL="594361" indent="-198120" lvl="2">
                <a:lnSpc>
                  <a:spcPts val="273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96287" y="8892899"/>
            <a:ext cx="2526026" cy="1534912"/>
            <a:chOff x="0" y="0"/>
            <a:chExt cx="3368035" cy="20465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8040" cy="2046605"/>
            </a:xfrm>
            <a:custGeom>
              <a:avLst/>
              <a:gdLst/>
              <a:ahLst/>
              <a:cxnLst/>
              <a:rect r="r" b="b" t="t" l="l"/>
              <a:pathLst>
                <a:path h="2046605" w="3368040">
                  <a:moveTo>
                    <a:pt x="0" y="0"/>
                  </a:moveTo>
                  <a:lnTo>
                    <a:pt x="3368040" y="0"/>
                  </a:lnTo>
                  <a:lnTo>
                    <a:pt x="3368040" y="2046605"/>
                  </a:lnTo>
                  <a:lnTo>
                    <a:pt x="0" y="2046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7014" y="1845738"/>
            <a:ext cx="17195845" cy="9367849"/>
            <a:chOff x="0" y="0"/>
            <a:chExt cx="22927793" cy="12490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7793" cy="12490466"/>
            </a:xfrm>
            <a:custGeom>
              <a:avLst/>
              <a:gdLst/>
              <a:ahLst/>
              <a:cxnLst/>
              <a:rect r="r" b="b" t="t" l="l"/>
              <a:pathLst>
                <a:path h="12490466" w="22927793">
                  <a:moveTo>
                    <a:pt x="0" y="0"/>
                  </a:moveTo>
                  <a:lnTo>
                    <a:pt x="22927793" y="0"/>
                  </a:lnTo>
                  <a:lnTo>
                    <a:pt x="22927793" y="12490466"/>
                  </a:lnTo>
                  <a:lnTo>
                    <a:pt x="0" y="124904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927793" cy="12480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CRUNCHYROLL NA CCXP 2024</a:t>
              </a:r>
            </a:p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Crunchyroll</a:t>
              </a:r>
            </a:p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</a:t>
              </a:r>
            </a:p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conquista deste projeto foi fruto de um relacionamento estratégico que mantive com a equipe da Crunchyroll. Após seis meses de concorrência intensa, nossa agência foi selecionada para liderar a presença da marca na CCXP 2024, o maior festival de cultura pop da América Latina, realizado no São Paulo Expo.​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Este marco representou nossa entrada oficial no setor de entretenimento, um objetivo almejado pela agência, e consolidou a Crunchyroll como um novo cliente em nosso portfólio.​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do projeto: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Estande imersivo e instagramável: Criamos um espaço temático que permitiu aos fãs interagirem com cenários e personagens de animes populares, proporcionando experiências memoráveis e compartilháveis.​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jovemnerd.com.br/noticias/animes-e-mangas/crunchyroll-credenciais-ccxp?utm_source=chatgpt.com"/>
                </a:rPr>
                <a:t>Jovem Nerd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Programação exclusiva: Coordenamos painéis e ativações com títulos de destaque, como Demon Slayer: Kimetsu no Yaiba, Solo Leveling e produções do estúdio MAPPA, além de estreias mundiais de animes aguardados para 2025.​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Credenciais temáticas: Pela primeira vez, os crachás do evento apresentaram artes exclusivas de animes, como Solo Leveling, Overlord e Tower of God, desenhadas por artistas brasileiros, reforçando a identidade da marca junto ao público.​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Engajamento com a comunidade: Organizamos sessões de fotos, distribuição de brindes e encontros com dubladores e produtores, fortalecendo a conexão entre a Crunchyroll e os fãs de anime.​</a:t>
              </a: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completa do projeto, desde a captação até a execução, garantindo que cada detalhe refletisse a paixão e a autenticidade que os fãs esperam da Crunchyroll.​</a:t>
              </a:r>
            </a:p>
            <a:p>
              <a:pPr algn="l" marL="369871" indent="-123290" lvl="2">
                <a:lnSpc>
                  <a:spcPts val="2399"/>
                </a:lnSpc>
              </a:pPr>
            </a:p>
            <a:p>
              <a:pPr algn="l" marL="369871" indent="-123290" lvl="2">
                <a:lnSpc>
                  <a:spcPts val="2399"/>
                </a:lnSpc>
                <a:buFont typeface="Arial"/>
                <a:buChar char="⚬"/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DDLH4yCSHG8/"/>
                </a:rPr>
                <a:t>Ver no Instagram – post 1</a:t>
              </a:r>
            </a:p>
            <a:p>
              <a:pPr algn="l" marL="369871" indent="-123290" lvl="2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instagram.com/p/DDOHP0fucMK/"/>
                </a:rPr>
                <a:t>Ver no Instagram – post 2</a:t>
              </a:r>
            </a:p>
            <a:p>
              <a:pPr algn="l" marL="369871" indent="-123290" lvl="2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instagram.com/p/DDQhaeOgdov/"/>
                </a:rPr>
                <a:t>Ver no Instagram – post 3</a:t>
              </a:r>
            </a:p>
            <a:p>
              <a:pPr algn="l" marL="369871" indent="-123290" lvl="2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6" tooltip="https://www.instagram.com/p/DDSy81aRGqJ/"/>
                </a:rPr>
                <a:t>Ver no Instagram – post 4</a:t>
              </a:r>
            </a:p>
            <a:p>
              <a:pPr algn="l" marL="369871" indent="-123290" lvl="2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7" tooltip="https://www.instagram.com/p/DDTACeFv0AS/"/>
                </a:rPr>
                <a:t>Ver no Instagram – post 5</a:t>
              </a:r>
            </a:p>
            <a:p>
              <a:pPr algn="l" marL="369871" indent="-123290" lvl="2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8" tooltip="https://www.instagram.com/p/DDTOdfvN8IU/"/>
                </a:rPr>
                <a:t>Ver no Instagram – post 6</a:t>
              </a:r>
            </a:p>
            <a:p>
              <a:pPr algn="l" marL="369871" indent="-123290" lvl="2">
                <a:lnSpc>
                  <a:spcPts val="343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8834" y="481969"/>
            <a:ext cx="11487033" cy="1710289"/>
            <a:chOff x="0" y="0"/>
            <a:chExt cx="15316044" cy="2280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16043" cy="2280385"/>
            </a:xfrm>
            <a:custGeom>
              <a:avLst/>
              <a:gdLst/>
              <a:ahLst/>
              <a:cxnLst/>
              <a:rect r="r" b="b" t="t" l="l"/>
              <a:pathLst>
                <a:path h="2280385" w="15316043">
                  <a:moveTo>
                    <a:pt x="0" y="0"/>
                  </a:moveTo>
                  <a:lnTo>
                    <a:pt x="15316043" y="0"/>
                  </a:lnTo>
                  <a:lnTo>
                    <a:pt x="15316043" y="2280385"/>
                  </a:lnTo>
                  <a:lnTo>
                    <a:pt x="0" y="2280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316044" cy="2280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F/MALTA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SENIOR PROJECT MANAGER 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(NOV 2022 – AGO 2024)</a:t>
              </a: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81665" y="8667674"/>
            <a:ext cx="1806335" cy="1814399"/>
            <a:chOff x="0" y="0"/>
            <a:chExt cx="2408447" cy="2419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8428" cy="2419223"/>
            </a:xfrm>
            <a:custGeom>
              <a:avLst/>
              <a:gdLst/>
              <a:ahLst/>
              <a:cxnLst/>
              <a:rect r="r" b="b" t="t" l="l"/>
              <a:pathLst>
                <a:path h="2419223" w="2408428">
                  <a:moveTo>
                    <a:pt x="0" y="0"/>
                  </a:moveTo>
                  <a:lnTo>
                    <a:pt x="2408428" y="0"/>
                  </a:lnTo>
                  <a:lnTo>
                    <a:pt x="2408428" y="2419223"/>
                  </a:lnTo>
                  <a:lnTo>
                    <a:pt x="0" y="2419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3633186"/>
            <a:ext cx="12344400" cy="3010581"/>
            <a:chOff x="0" y="0"/>
            <a:chExt cx="16459200" cy="4014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4014108"/>
            </a:xfrm>
            <a:custGeom>
              <a:avLst/>
              <a:gdLst/>
              <a:ahLst/>
              <a:cxnLst/>
              <a:rect r="r" b="b" t="t" l="l"/>
              <a:pathLst>
                <a:path h="401410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4014108"/>
                  </a:lnTo>
                  <a:lnTo>
                    <a:pt x="0" y="4014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4023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</a:t>
              </a: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10100" y="4798341"/>
            <a:ext cx="9745633" cy="3231842"/>
            <a:chOff x="0" y="0"/>
            <a:chExt cx="12994177" cy="4309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4132" cy="4309110"/>
            </a:xfrm>
            <a:custGeom>
              <a:avLst/>
              <a:gdLst/>
              <a:ahLst/>
              <a:cxnLst/>
              <a:rect r="r" b="b" t="t" l="l"/>
              <a:pathLst>
                <a:path h="4309110" w="12994132">
                  <a:moveTo>
                    <a:pt x="0" y="0"/>
                  </a:moveTo>
                  <a:lnTo>
                    <a:pt x="12994132" y="0"/>
                  </a:lnTo>
                  <a:lnTo>
                    <a:pt x="12994132" y="4309110"/>
                  </a:lnTo>
                  <a:lnTo>
                    <a:pt x="0" y="4309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361869" y="8457119"/>
            <a:ext cx="705931" cy="705931"/>
          </a:xfrm>
          <a:custGeom>
            <a:avLst/>
            <a:gdLst/>
            <a:ahLst/>
            <a:cxnLst/>
            <a:rect r="r" b="b" t="t" l="l"/>
            <a:pathLst>
              <a:path h="705931" w="705931">
                <a:moveTo>
                  <a:pt x="0" y="0"/>
                </a:moveTo>
                <a:lnTo>
                  <a:pt x="705931" y="0"/>
                </a:lnTo>
                <a:lnTo>
                  <a:pt x="705931" y="705931"/>
                </a:lnTo>
                <a:lnTo>
                  <a:pt x="0" y="70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82916" y="8457119"/>
            <a:ext cx="659436" cy="659436"/>
          </a:xfrm>
          <a:custGeom>
            <a:avLst/>
            <a:gdLst/>
            <a:ahLst/>
            <a:cxnLst/>
            <a:rect r="r" b="b" t="t" l="l"/>
            <a:pathLst>
              <a:path h="659436" w="659436">
                <a:moveTo>
                  <a:pt x="0" y="0"/>
                </a:moveTo>
                <a:lnTo>
                  <a:pt x="659436" y="0"/>
                </a:lnTo>
                <a:lnTo>
                  <a:pt x="659436" y="659436"/>
                </a:lnTo>
                <a:lnTo>
                  <a:pt x="0" y="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917" y="2088933"/>
            <a:ext cx="16560808" cy="11278903"/>
            <a:chOff x="0" y="0"/>
            <a:chExt cx="22081077" cy="15038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81077" cy="15038538"/>
            </a:xfrm>
            <a:custGeom>
              <a:avLst/>
              <a:gdLst/>
              <a:ahLst/>
              <a:cxnLst/>
              <a:rect r="r" b="b" t="t" l="l"/>
              <a:pathLst>
                <a:path h="15038538" w="22081077">
                  <a:moveTo>
                    <a:pt x="0" y="0"/>
                  </a:moveTo>
                  <a:lnTo>
                    <a:pt x="22081077" y="0"/>
                  </a:lnTo>
                  <a:lnTo>
                    <a:pt x="22081077" y="15038538"/>
                  </a:lnTo>
                  <a:lnTo>
                    <a:pt x="0" y="15038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081077" cy="1503853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INSTITUCIONAL "A HBO É PARA VOCÊ"</a:t>
              </a:r>
            </a:p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</a:t>
              </a:r>
            </a:p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</a:t>
              </a:r>
            </a:p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</a:t>
              </a:r>
            </a:p>
            <a:p>
              <a:pPr algn="l">
                <a:lnSpc>
                  <a:spcPts val="2544"/>
                </a:lnSpc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Participei da campanha institucional de lançamento da HBO Max no Brasil, em julho de 2021, ocupando a função de Gerente de Projetos Sênior. A campanha, sob o conceito “A HBO é para você”, teve como objetivo reposicionar a marca diante de um novo público e reforçar a ideia de que, independentemente do estilo ou gênero preferido, há sempre um conteúdo que conversa com cada pessoa.</a:t>
              </a:r>
            </a:p>
            <a:p>
              <a:pPr algn="l">
                <a:lnSpc>
                  <a:spcPts val="2544"/>
                </a:lnSpc>
              </a:pPr>
            </a:p>
            <a:p>
              <a:pPr algn="l">
                <a:lnSpc>
                  <a:spcPts val="2544"/>
                </a:lnSpc>
              </a:pPr>
              <a:r>
                <a:rPr lang="en-US" sz="21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📢 Destaques da campanha: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🎬 Lançamento oficial da HBO Max na América Latina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🧩 Posicionamento inclusivo e próximo, reforçando pluralidade de perfis e gostos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🌐 Presença massiva em TV aberta, digital, mídia exterior, social e branded content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📱 Envolvimento de creators e influenciadores para amplificação nas redes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💡 Peças como “Você é viciado em série? A HBO é para você” aproximaram a linguagem do cotidiano</a:t>
              </a:r>
            </a:p>
            <a:p>
              <a:pPr algn="l" marL="484637" indent="-161546" lvl="2">
                <a:lnSpc>
                  <a:spcPts val="2544"/>
                </a:lnSpc>
              </a:pPr>
            </a:p>
            <a:p>
              <a:pPr algn="l" marL="484637" indent="-161546" lvl="2">
                <a:lnSpc>
                  <a:spcPts val="2544"/>
                </a:lnSpc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Minha atuação: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🗂️ Coordenação do cronograma e gestão integrada das frentes criativa, estratégica e operacional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🤝 Alinhamento entre agência, time interno da HBO e parceiros de mídia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Garantia da consistência narrativa em todos os pontos de contato da campanha</a:t>
              </a:r>
            </a:p>
            <a:p>
              <a:pPr algn="l" marL="484637" indent="-161546" lvl="2">
                <a:lnSpc>
                  <a:spcPts val="2544"/>
                </a:lnSpc>
                <a:buFont typeface="Arial"/>
                <a:buChar char="⚬"/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Suporte na entrega de conteúdos locais adaptados para o mercado brasileiro</a:t>
              </a:r>
            </a:p>
            <a:p>
              <a:pPr algn="l" marL="484637" indent="-161546" lvl="2">
                <a:lnSpc>
                  <a:spcPts val="1344"/>
                </a:lnSpc>
              </a:pPr>
            </a:p>
            <a:p>
              <a:pPr algn="l" marL="484637" indent="-161546" lvl="2">
                <a:lnSpc>
                  <a:spcPts val="2544"/>
                </a:lnSpc>
              </a:pPr>
              <a:r>
                <a:rPr lang="en-US" sz="21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oficial:</a:t>
              </a:r>
            </a:p>
            <a:p>
              <a:pPr algn="l" marL="484637" indent="-161546" lvl="2">
                <a:lnSpc>
                  <a:spcPts val="2544"/>
                </a:lnSpc>
              </a:pPr>
              <a:r>
                <a:rPr lang="en-US" sz="21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propmark.com.br/hbo-max-detalha-chegada-ao-brasil-e-campanha-com-conteudo-ao-maximo/"/>
                </a:rPr>
                <a:t>PROPmark | HBO Max detalha chegada ao Brasil e campanha com conteúdo “ao máximo”</a:t>
              </a:r>
            </a:p>
            <a:p>
              <a:pPr algn="l" marL="484637" indent="-161546" lvl="2">
                <a:lnSpc>
                  <a:spcPts val="2544"/>
                </a:lnSpc>
              </a:pPr>
            </a:p>
            <a:p>
              <a:pPr algn="l" marL="484637" indent="-161546" lvl="2">
                <a:lnSpc>
                  <a:spcPts val="2544"/>
                </a:lnSpc>
              </a:pPr>
            </a:p>
            <a:p>
              <a:pPr algn="l" marL="484637" indent="-161546" lvl="2">
                <a:lnSpc>
                  <a:spcPts val="386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61634"/>
            <a:chOff x="0" y="0"/>
            <a:chExt cx="16459200" cy="3282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82178"/>
            </a:xfrm>
            <a:custGeom>
              <a:avLst/>
              <a:gdLst/>
              <a:ahLst/>
              <a:cxnLst/>
              <a:rect r="r" b="b" t="t" l="l"/>
              <a:pathLst>
                <a:path h="328217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82178"/>
                  </a:lnTo>
                  <a:lnTo>
                    <a:pt x="0" y="3282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82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17540" y="9771518"/>
            <a:ext cx="2572319" cy="443011"/>
            <a:chOff x="0" y="0"/>
            <a:chExt cx="3429759" cy="590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762" cy="590677"/>
            </a:xfrm>
            <a:custGeom>
              <a:avLst/>
              <a:gdLst/>
              <a:ahLst/>
              <a:cxnLst/>
              <a:rect r="r" b="b" t="t" l="l"/>
              <a:pathLst>
                <a:path h="590677" w="3429762">
                  <a:moveTo>
                    <a:pt x="0" y="0"/>
                  </a:moveTo>
                  <a:lnTo>
                    <a:pt x="3429762" y="0"/>
                  </a:lnTo>
                  <a:lnTo>
                    <a:pt x="3429762" y="590677"/>
                  </a:lnTo>
                  <a:lnTo>
                    <a:pt x="0" y="59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97029"/>
            <a:ext cx="16922336" cy="8128071"/>
            <a:chOff x="0" y="0"/>
            <a:chExt cx="22563115" cy="108374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3114" cy="10837428"/>
            </a:xfrm>
            <a:custGeom>
              <a:avLst/>
              <a:gdLst/>
              <a:ahLst/>
              <a:cxnLst/>
              <a:rect r="r" b="b" t="t" l="l"/>
              <a:pathLst>
                <a:path h="10837428" w="22563114">
                  <a:moveTo>
                    <a:pt x="0" y="0"/>
                  </a:moveTo>
                  <a:lnTo>
                    <a:pt x="22563114" y="0"/>
                  </a:lnTo>
                  <a:lnTo>
                    <a:pt x="22563114" y="10837428"/>
                  </a:lnTo>
                  <a:lnTo>
                    <a:pt x="0" y="10837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563115" cy="108374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47"/>
                </a:lnSpc>
              </a:pPr>
              <a:r>
                <a:rPr lang="en-US" sz="25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– Campanha “Novas Fadas” com Rayssa Leal</a:t>
              </a:r>
            </a:p>
            <a:p>
              <a:pPr algn="l">
                <a:lnSpc>
                  <a:spcPts val="3047"/>
                </a:lnSpc>
              </a:pPr>
              <a:r>
                <a:rPr lang="en-US" sz="25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</a:t>
              </a:r>
            </a:p>
            <a:p>
              <a:pPr algn="l">
                <a:lnSpc>
                  <a:spcPts val="3047"/>
                </a:lnSpc>
              </a:pPr>
              <a:r>
                <a:rPr lang="en-US" sz="25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2021</a:t>
              </a:r>
            </a:p>
            <a:p>
              <a:pPr algn="l">
                <a:lnSpc>
                  <a:spcPts val="3047"/>
                </a:lnSpc>
              </a:pPr>
              <a:r>
                <a:rPr lang="en-US" sz="25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</a:t>
              </a:r>
            </a:p>
            <a:p>
              <a:pPr algn="l">
                <a:lnSpc>
                  <a:spcPts val="3047"/>
                </a:lnSpc>
              </a:pPr>
              <a:r>
                <a:rPr lang="en-US" sz="254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3047"/>
                </a:lnSpc>
              </a:pP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julho de 2021, a Nike lançou a campanha “Novas Fadas”, protagonizada por Rayssa Leal, a jovem skatista brasileira que conquistou a medalha de prata nas Olimpíadas de Tóquio. A campanha, parte da iniciativa global “Vai no Novo”, visou inspirar meninas a se envolverem no esporte, destacando que a verdadeira mágica está na dedicação e paixão.​</a:t>
              </a:r>
            </a:p>
            <a:p>
              <a:pPr algn="l">
                <a:lnSpc>
                  <a:spcPts val="3047"/>
                </a:lnSpc>
              </a:pPr>
            </a:p>
            <a:p>
              <a:pPr algn="l" marL="469838" indent="-156613" lvl="2">
                <a:lnSpc>
                  <a:spcPts val="3047"/>
                </a:lnSpc>
                <a:buFont typeface="Arial"/>
                <a:buChar char="⚬"/>
              </a:pP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filme apresenta Rayssa realizando manobras de skate em cenários urbanos, interagindo com elementos lúdicos como animações de bichinhos e trilha sonora que remete a contos de fadas. A produção foi criada pela Wieden+Kennedy São Paulo.​</a:t>
              </a:r>
              <a:r>
                <a:rPr lang="en-US" sz="254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propmark.com.br/rayssa-leal-ganha-asas-em-filme-da-nike/?utm_source=chatgpt.com"/>
                </a:rPr>
                <a:t> O </a:t>
              </a: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POVO +10, propmark +10, B9 +10.</a:t>
              </a:r>
            </a:p>
            <a:p>
              <a:pPr algn="l" marL="469838" indent="-156613" lvl="2">
                <a:lnSpc>
                  <a:spcPts val="3047"/>
                </a:lnSpc>
              </a:pPr>
            </a:p>
            <a:p>
              <a:pPr algn="l" marL="469891" indent="-156630" lvl="2">
                <a:lnSpc>
                  <a:spcPts val="3047"/>
                </a:lnSpc>
                <a:buFont typeface="Arial"/>
                <a:buChar char="⚬"/>
              </a:pP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completa do projeto, desde o planejamento estratégico até a execução, garantindo que cada elemento da campanha refletisse a mensagem de empoderamento e inclusão.​</a:t>
              </a:r>
            </a:p>
            <a:p>
              <a:pPr algn="l" marL="469891" indent="-156630" lvl="2">
                <a:lnSpc>
                  <a:spcPts val="3047"/>
                </a:lnSpc>
              </a:pPr>
            </a:p>
            <a:p>
              <a:pPr algn="l" marL="469891" indent="-156630" lvl="2">
                <a:lnSpc>
                  <a:spcPts val="3047"/>
                </a:lnSpc>
                <a:buFont typeface="Arial"/>
                <a:buChar char="⚬"/>
              </a:pPr>
              <a:r>
                <a:rPr lang="en-US" sz="254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🎥 Assista ao filme completo: </a:t>
              </a:r>
              <a:r>
                <a:rPr lang="en-US" sz="254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f5.folha.uol.com.br/celebridades/2021/07/rayssa-leal-vira-fada-em-nova-campanha-da-nike-veja-video.shtml?utm_source=chatgpt.com"/>
                </a:rPr>
                <a:t>YouTube+11F5+11Exame+11</a:t>
              </a:r>
            </a:p>
            <a:p>
              <a:pPr algn="l" marL="469891" indent="-156630" lvl="2">
                <a:lnSpc>
                  <a:spcPts val="31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61634"/>
            <a:chOff x="0" y="0"/>
            <a:chExt cx="16459200" cy="3282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82178"/>
            </a:xfrm>
            <a:custGeom>
              <a:avLst/>
              <a:gdLst/>
              <a:ahLst/>
              <a:cxnLst/>
              <a:rect r="r" b="b" t="t" l="l"/>
              <a:pathLst>
                <a:path h="328217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82178"/>
                  </a:lnTo>
                  <a:lnTo>
                    <a:pt x="0" y="3282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82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81429" y="9454093"/>
            <a:ext cx="2155741" cy="766232"/>
            <a:chOff x="0" y="0"/>
            <a:chExt cx="2874321" cy="1021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74264" cy="1021588"/>
            </a:xfrm>
            <a:custGeom>
              <a:avLst/>
              <a:gdLst/>
              <a:ahLst/>
              <a:cxnLst/>
              <a:rect r="r" b="b" t="t" l="l"/>
              <a:pathLst>
                <a:path h="1021588" w="2874264">
                  <a:moveTo>
                    <a:pt x="0" y="0"/>
                  </a:moveTo>
                  <a:lnTo>
                    <a:pt x="2874264" y="0"/>
                  </a:lnTo>
                  <a:lnTo>
                    <a:pt x="2874264" y="1021588"/>
                  </a:lnTo>
                  <a:lnTo>
                    <a:pt x="0" y="102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" r="-1" b="-92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619" y="2081392"/>
            <a:ext cx="17449163" cy="8501574"/>
            <a:chOff x="0" y="0"/>
            <a:chExt cx="23265551" cy="11335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5550" cy="11335432"/>
            </a:xfrm>
            <a:custGeom>
              <a:avLst/>
              <a:gdLst/>
              <a:ahLst/>
              <a:cxnLst/>
              <a:rect r="r" b="b" t="t" l="l"/>
              <a:pathLst>
                <a:path h="11335432" w="23265550">
                  <a:moveTo>
                    <a:pt x="0" y="0"/>
                  </a:moveTo>
                  <a:lnTo>
                    <a:pt x="23265550" y="0"/>
                  </a:lnTo>
                  <a:lnTo>
                    <a:pt x="23265550" y="11335432"/>
                  </a:lnTo>
                  <a:lnTo>
                    <a:pt x="0" y="11335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265551" cy="113354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Campanha Nacional "Vai no novo"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16"/>
                </a:lnSpc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Como Gerente de Projetos Sênior, atuei na campanha "Vai no Novo", criada para lançar uma nova coleção da Nike Brasil e reforçar o posicionamento da marca no cenário esportivo e cultural do país. A campanha teve como propósito celebrar a autenticidade, a coragem e a irreverência dos atletas brasileiros, incentivando-os a se reinventar, desafiar padrões e seguir em frente — do seu jeito.</a:t>
              </a:r>
            </a:p>
            <a:p>
              <a:pPr algn="l">
                <a:lnSpc>
                  <a:spcPts val="2616"/>
                </a:lnSpc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📢 Destaques criativos: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🎥 Produção de filme manifesto com forte apelo emocional e estética arrojada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🧍‍♀️ Elenco formado por jovens atletas, nomes emergentes e vozes plurais do esporte e da cultura urbana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Mensagem central: "Se é pra tentar, vai no novo."</a:t>
              </a:r>
            </a:p>
            <a:p>
              <a:pPr algn="l" marL="498353" indent="-166118" lvl="2">
                <a:lnSpc>
                  <a:spcPts val="2616"/>
                </a:lnSpc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📡 Mídias e canais de veiculação: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📺 TV aberta e por assinatura com inserções em horário nobre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📱 Mídia digital e social media com desdobramentos criativos para Instagram, Twitter, TikTok e YouTube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📰 Portais e veículos de mídia esportiva e lifestyle, como Globo Esporte, ESPN, UOL, GQ, Vogue, entre outros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Campanha out-of-home (OOH) com presença em grandes centros urbanos como São Paulo, Rio de Janeiro e Recife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📢 Ativações com influenciadores, atletas patrocinados e coletivos culturais locais</a:t>
              </a:r>
            </a:p>
            <a:p>
              <a:pPr algn="l" marL="498353" indent="-166118" lvl="2">
                <a:lnSpc>
                  <a:spcPts val="2616"/>
                </a:lnSpc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Minha atuação: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👥 Coordenação entre os núcleos criativo, de produção, mídia e marca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🗂️ Gestão do cronograma macro e dos entregáveis de cada frente envolvida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🤝 Alinhamento entre Nike, W+K e parceiros de mídia e conteúdo</a:t>
              </a:r>
            </a:p>
            <a:p>
              <a:pPr algn="l" marL="498353" indent="-166118" lvl="2">
                <a:lnSpc>
                  <a:spcPts val="2616"/>
                </a:lnSpc>
                <a:buFont typeface="Arial"/>
                <a:buChar char="⚬"/>
              </a:pP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Garantia de consistência e impacto em todos os pontos de contato da campanha</a:t>
              </a:r>
            </a:p>
            <a:p>
              <a:pPr algn="l" marL="498353" indent="-166118" lvl="2">
                <a:lnSpc>
                  <a:spcPts val="1090"/>
                </a:lnSpc>
              </a:pPr>
            </a:p>
            <a:p>
              <a:pPr algn="l" marL="498353" indent="-166118" lvl="2">
                <a:lnSpc>
                  <a:spcPts val="429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11468"/>
            <a:chOff x="0" y="0"/>
            <a:chExt cx="16459200" cy="321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15290"/>
            </a:xfrm>
            <a:custGeom>
              <a:avLst/>
              <a:gdLst/>
              <a:ahLst/>
              <a:cxnLst/>
              <a:rect r="r" b="b" t="t" l="l"/>
              <a:pathLst>
                <a:path h="321529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15290"/>
                  </a:lnTo>
                  <a:lnTo>
                    <a:pt x="0" y="321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81429" y="9454093"/>
            <a:ext cx="2155741" cy="766232"/>
            <a:chOff x="0" y="0"/>
            <a:chExt cx="2874321" cy="1021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74264" cy="1021588"/>
            </a:xfrm>
            <a:custGeom>
              <a:avLst/>
              <a:gdLst/>
              <a:ahLst/>
              <a:cxnLst/>
              <a:rect r="r" b="b" t="t" l="l"/>
              <a:pathLst>
                <a:path h="1021588" w="2874264">
                  <a:moveTo>
                    <a:pt x="0" y="0"/>
                  </a:moveTo>
                  <a:lnTo>
                    <a:pt x="2874264" y="0"/>
                  </a:lnTo>
                  <a:lnTo>
                    <a:pt x="2874264" y="1021588"/>
                  </a:lnTo>
                  <a:lnTo>
                    <a:pt x="0" y="102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7" r="-1" b="-92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5619" y="2081392"/>
            <a:ext cx="17449164" cy="8253225"/>
          </a:xfrm>
          <a:custGeom>
            <a:avLst/>
            <a:gdLst/>
            <a:ahLst/>
            <a:cxnLst/>
            <a:rect r="r" b="b" t="t" l="l"/>
            <a:pathLst>
              <a:path h="8253225" w="17449164">
                <a:moveTo>
                  <a:pt x="0" y="0"/>
                </a:moveTo>
                <a:lnTo>
                  <a:pt x="17449164" y="0"/>
                </a:lnTo>
                <a:lnTo>
                  <a:pt x="17449164" y="8253225"/>
                </a:lnTo>
                <a:lnTo>
                  <a:pt x="0" y="825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71800" y="381819"/>
            <a:ext cx="12344400" cy="2411468"/>
            <a:chOff x="0" y="0"/>
            <a:chExt cx="16459200" cy="32152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9200" cy="3215290"/>
            </a:xfrm>
            <a:custGeom>
              <a:avLst/>
              <a:gdLst/>
              <a:ahLst/>
              <a:cxnLst/>
              <a:rect r="r" b="b" t="t" l="l"/>
              <a:pathLst>
                <a:path h="321529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15290"/>
                  </a:lnTo>
                  <a:lnTo>
                    <a:pt x="0" y="321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6459200" cy="32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81429" y="9454093"/>
            <a:ext cx="2155741" cy="766232"/>
            <a:chOff x="0" y="0"/>
            <a:chExt cx="2874321" cy="1021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74264" cy="1021588"/>
            </a:xfrm>
            <a:custGeom>
              <a:avLst/>
              <a:gdLst/>
              <a:ahLst/>
              <a:cxnLst/>
              <a:rect r="r" b="b" t="t" l="l"/>
              <a:pathLst>
                <a:path h="1021588" w="2874264">
                  <a:moveTo>
                    <a:pt x="0" y="0"/>
                  </a:moveTo>
                  <a:lnTo>
                    <a:pt x="2874264" y="0"/>
                  </a:lnTo>
                  <a:lnTo>
                    <a:pt x="2874264" y="1021588"/>
                  </a:lnTo>
                  <a:lnTo>
                    <a:pt x="0" y="102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" r="-1" b="-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5619" y="2081392"/>
            <a:ext cx="17449163" cy="8253225"/>
            <a:chOff x="0" y="0"/>
            <a:chExt cx="23265551" cy="1100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65550" cy="11004300"/>
            </a:xfrm>
            <a:custGeom>
              <a:avLst/>
              <a:gdLst/>
              <a:ahLst/>
              <a:cxnLst/>
              <a:rect r="r" b="b" t="t" l="l"/>
              <a:pathLst>
                <a:path h="11004300" w="23265550">
                  <a:moveTo>
                    <a:pt x="0" y="0"/>
                  </a:moveTo>
                  <a:lnTo>
                    <a:pt x="23265550" y="0"/>
                  </a:lnTo>
                  <a:lnTo>
                    <a:pt x="23265550" y="11004300"/>
                  </a:lnTo>
                  <a:lnTo>
                    <a:pt x="0" y="110043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3265551" cy="110043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Campanha Nacional "Vai no novo"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</a:t>
              </a:r>
            </a:p>
            <a:p>
              <a:pPr algn="l">
                <a:lnSpc>
                  <a:spcPts val="2616"/>
                </a:lnSpc>
              </a:pPr>
              <a:r>
                <a:rPr lang="en-US" sz="218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616"/>
                </a:lnSpc>
              </a:pPr>
            </a:p>
            <a:p>
              <a:pPr algn="l">
                <a:lnSpc>
                  <a:spcPts val="2616"/>
                </a:lnSpc>
              </a:pPr>
            </a:p>
            <a:p>
              <a:pPr algn="l">
                <a:lnSpc>
                  <a:spcPts val="1090"/>
                </a:lnSpc>
              </a:pPr>
            </a:p>
            <a:p>
              <a:pPr algn="l">
                <a:lnSpc>
                  <a:spcPts val="429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5619" y="4231599"/>
            <a:ext cx="17213013" cy="4342021"/>
            <a:chOff x="0" y="0"/>
            <a:chExt cx="22950684" cy="57893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50678" cy="5789422"/>
            </a:xfrm>
            <a:custGeom>
              <a:avLst/>
              <a:gdLst/>
              <a:ahLst/>
              <a:cxnLst/>
              <a:rect r="r" b="b" t="t" l="l"/>
              <a:pathLst>
                <a:path h="5789422" w="22950678">
                  <a:moveTo>
                    <a:pt x="0" y="0"/>
                  </a:moveTo>
                  <a:lnTo>
                    <a:pt x="22950678" y="0"/>
                  </a:lnTo>
                  <a:lnTo>
                    <a:pt x="22950678" y="5789422"/>
                  </a:lnTo>
                  <a:lnTo>
                    <a:pt x="0" y="5789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035" y="2086722"/>
            <a:ext cx="18042136" cy="10258916"/>
            <a:chOff x="0" y="0"/>
            <a:chExt cx="24056181" cy="13678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6181" cy="13678554"/>
            </a:xfrm>
            <a:custGeom>
              <a:avLst/>
              <a:gdLst/>
              <a:ahLst/>
              <a:cxnLst/>
              <a:rect r="r" b="b" t="t" l="l"/>
              <a:pathLst>
                <a:path h="13678554" w="24056181">
                  <a:moveTo>
                    <a:pt x="0" y="0"/>
                  </a:moveTo>
                  <a:lnTo>
                    <a:pt x="24056181" y="0"/>
                  </a:lnTo>
                  <a:lnTo>
                    <a:pt x="24056181" y="13678554"/>
                  </a:lnTo>
                  <a:lnTo>
                    <a:pt x="0" y="1367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056181" cy="136785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x Corinthians – Campanha “Vai na Alma” e Lançamento dos Uniformes 2021/22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/ Corinthians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2021, lideramos o lançamento dos novos uniformes do Corinthians com a campanha “Vai na Alma”, que celebrou a identidade do clube e sua conexão profunda com a torcida. A campanha destacou a luta por igualdade e inclusão, valores intrínsecos ao Corinthians.​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uol.com.br/esporte/futebol/ultimas-noticias/2021/06/15/corinthians-lanca-uniforme-principal-com-design-que-quebra-barreiras.htm?utm_source=chatgpt.com"/>
                </a:rPr>
                <a:t>UOL+1LANCE!+1</a:t>
              </a:r>
            </a:p>
            <a:p>
              <a:pPr algn="l">
                <a:lnSpc>
                  <a:spcPts val="2735"/>
                </a:lnSpc>
              </a:pPr>
            </a:p>
            <a:p>
              <a:pPr algn="l" marL="421623" indent="-140541" lvl="2">
                <a:lnSpc>
                  <a:spcPts val="2735"/>
                </a:lnSpc>
                <a:buFont typeface="Arial"/>
                <a:buChar char="⚬"/>
              </a:pPr>
              <a:r>
                <a:rPr lang="en-US" b="true" sz="227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421623" indent="-140541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Uniforme Principal (Camisa 1): Predominantemente branca, com detalhes que remetem às rachaduras dos muros de São Paulo, simbolizando a quebra de barreiras e a resistência do povo corinthiano. ​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trivela.com.br/brasil/corinthians-apresenta-camisa-para-2021-22-inspirada-na-quebra-de-barreiras-do-clube-na-historia/?utm_source=chatgpt.com"/>
                </a:rPr>
                <a:t>Mantos do Futebol+3Trivela+3LANCE!+3</a:t>
              </a:r>
            </a:p>
            <a:p>
              <a:pPr algn="l" marL="421623" indent="-140541" lvl="2">
                <a:lnSpc>
                  <a:spcPts val="2735"/>
                </a:lnSpc>
              </a:pPr>
            </a:p>
            <a:p>
              <a:pPr algn="l" marL="421623" indent="-140541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Terceiro Uniforme (Camisa 3): Em homenagem às mulheres que representam 53% da torcida, a camisa roxa com detalhes dourados trouxe a mensagem #RespeitaAsMinas, reforçando o compromisso com a inclusão e o respeito. ​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mantosdofutebol.com.br/2021/09/terceira-camisa-corinthians-2021-2022-nike/?utm_source=chatgpt.com"/>
                </a:rPr>
                <a:t>UOL+5Mantos do Futebol+5ge+5</a:t>
              </a:r>
            </a:p>
            <a:p>
              <a:pPr algn="l" marL="421623" indent="-140541" lvl="2">
                <a:lnSpc>
                  <a:spcPts val="2735"/>
                </a:lnSpc>
              </a:pPr>
            </a:p>
            <a:p>
              <a:pPr algn="l" marL="421623" indent="-140541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“Vai na Alma”: Com participação de poetas do slam e figuras emblemáticas da torcida, o vídeo destacou a alma corinthiana e sua luta por justiça social. ​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trivela.com.br/brasil/corinthians-apresenta-camisa-para-2021-22-inspirada-na-quebra-de-barreiras-do-clube-na-historia/?utm_source=chatgpt.com"/>
                </a:rPr>
                <a:t>Trivela+1LANCE!+1</a:t>
              </a:r>
            </a:p>
            <a:p>
              <a:pPr algn="l" marL="421623" indent="-140541" lvl="2">
                <a:lnSpc>
                  <a:spcPts val="2735"/>
                </a:lnSpc>
              </a:pP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completa do projeto, desde o planejamento estratégico até a execução, garantindo que cada elemento da campanha refletisse a paixão e os valores do Corinthians.​</a:t>
              </a:r>
            </a:p>
            <a:p>
              <a:pPr algn="l" marL="421671" indent="-140557" lvl="2">
                <a:lnSpc>
                  <a:spcPts val="27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11468"/>
            <a:chOff x="0" y="0"/>
            <a:chExt cx="16459200" cy="321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15290"/>
            </a:xfrm>
            <a:custGeom>
              <a:avLst/>
              <a:gdLst/>
              <a:ahLst/>
              <a:cxnLst/>
              <a:rect r="r" b="b" t="t" l="l"/>
              <a:pathLst>
                <a:path h="321529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15290"/>
                  </a:lnTo>
                  <a:lnTo>
                    <a:pt x="0" y="321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81429" y="9454093"/>
            <a:ext cx="2155741" cy="766232"/>
            <a:chOff x="0" y="0"/>
            <a:chExt cx="2874321" cy="1021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74264" cy="1021588"/>
            </a:xfrm>
            <a:custGeom>
              <a:avLst/>
              <a:gdLst/>
              <a:ahLst/>
              <a:cxnLst/>
              <a:rect r="r" b="b" t="t" l="l"/>
              <a:pathLst>
                <a:path h="1021588" w="2874264">
                  <a:moveTo>
                    <a:pt x="0" y="0"/>
                  </a:moveTo>
                  <a:lnTo>
                    <a:pt x="2874264" y="0"/>
                  </a:lnTo>
                  <a:lnTo>
                    <a:pt x="2874264" y="1021588"/>
                  </a:lnTo>
                  <a:lnTo>
                    <a:pt x="0" y="102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7" r="-1" b="-92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035" y="2086722"/>
            <a:ext cx="18042136" cy="10258916"/>
            <a:chOff x="0" y="0"/>
            <a:chExt cx="24056181" cy="136785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6181" cy="13678554"/>
            </a:xfrm>
            <a:custGeom>
              <a:avLst/>
              <a:gdLst/>
              <a:ahLst/>
              <a:cxnLst/>
              <a:rect r="r" b="b" t="t" l="l"/>
              <a:pathLst>
                <a:path h="13678554" w="24056181">
                  <a:moveTo>
                    <a:pt x="0" y="0"/>
                  </a:moveTo>
                  <a:lnTo>
                    <a:pt x="24056181" y="0"/>
                  </a:lnTo>
                  <a:lnTo>
                    <a:pt x="24056181" y="13678554"/>
                  </a:lnTo>
                  <a:lnTo>
                    <a:pt x="0" y="1367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056181" cy="136785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x Corinthians – Campanha “Vai na Alma” e Lançamento dos Uniformes 2021/22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Nike / Corinthians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2021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735"/>
                </a:lnSpc>
              </a:pP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📸 Imagens da Campanha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Participação do jovem atleta Guilherme Biro na campanha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Fonte: ge.globo.com</a:t>
              </a:r>
            </a:p>
            <a:p>
              <a:pPr algn="l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ge.globo.com/futebol/times/corinthians/noticia/corinthians-estreia-camisa-nesta-quarta-veja-fotos.ghtml"/>
                </a:rPr>
                <a:t>Visualizar galeria completa</a:t>
              </a:r>
            </a:p>
            <a:p>
              <a:pPr algn="l">
                <a:lnSpc>
                  <a:spcPts val="2735"/>
                </a:lnSpc>
              </a:pP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🎥 Vídeo da Campanha “Vai na Alma”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campanha contou com um filme manifesto protagonizado pelos poetas do slam Kimani e Lucão, reforçando a conexão entre o clube e sua torcida. O vídeo está disponível no canal oficial do Corinthians no YouTube:</a:t>
              </a:r>
            </a:p>
            <a:p>
              <a:pPr algn="l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youtu.be/wbTb7rdD1gY"/>
                </a:rPr>
                <a:t>Assista ao vídeo “Vai na Alma”</a:t>
              </a:r>
            </a:p>
            <a:p>
              <a:pPr algn="l">
                <a:lnSpc>
                  <a:spcPts val="2735"/>
                </a:lnSpc>
              </a:pPr>
            </a:p>
            <a:p>
              <a:pPr algn="l">
                <a:lnSpc>
                  <a:spcPts val="27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11468"/>
            <a:chOff x="0" y="0"/>
            <a:chExt cx="16459200" cy="321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15290"/>
            </a:xfrm>
            <a:custGeom>
              <a:avLst/>
              <a:gdLst/>
              <a:ahLst/>
              <a:cxnLst/>
              <a:rect r="r" b="b" t="t" l="l"/>
              <a:pathLst>
                <a:path h="321529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15290"/>
                  </a:lnTo>
                  <a:lnTo>
                    <a:pt x="0" y="321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81429" y="9454093"/>
            <a:ext cx="2155741" cy="766232"/>
            <a:chOff x="0" y="0"/>
            <a:chExt cx="2874321" cy="1021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74264" cy="1021588"/>
            </a:xfrm>
            <a:custGeom>
              <a:avLst/>
              <a:gdLst/>
              <a:ahLst/>
              <a:cxnLst/>
              <a:rect r="r" b="b" t="t" l="l"/>
              <a:pathLst>
                <a:path h="1021588" w="2874264">
                  <a:moveTo>
                    <a:pt x="0" y="0"/>
                  </a:moveTo>
                  <a:lnTo>
                    <a:pt x="2874264" y="0"/>
                  </a:lnTo>
                  <a:lnTo>
                    <a:pt x="2874264" y="1021588"/>
                  </a:lnTo>
                  <a:lnTo>
                    <a:pt x="0" y="102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" r="-1" b="-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93784" y="7076418"/>
            <a:ext cx="11748031" cy="3009574"/>
            <a:chOff x="0" y="0"/>
            <a:chExt cx="15664041" cy="40127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64053" cy="4012819"/>
            </a:xfrm>
            <a:custGeom>
              <a:avLst/>
              <a:gdLst/>
              <a:ahLst/>
              <a:cxnLst/>
              <a:rect r="r" b="b" t="t" l="l"/>
              <a:pathLst>
                <a:path h="4012819" w="15664053">
                  <a:moveTo>
                    <a:pt x="0" y="0"/>
                  </a:moveTo>
                  <a:lnTo>
                    <a:pt x="15664053" y="0"/>
                  </a:lnTo>
                  <a:lnTo>
                    <a:pt x="15664053" y="4012819"/>
                  </a:lnTo>
                  <a:lnTo>
                    <a:pt x="0" y="4012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367" y="2308672"/>
            <a:ext cx="16257213" cy="8259164"/>
            <a:chOff x="0" y="0"/>
            <a:chExt cx="21676284" cy="110122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6285" cy="11012219"/>
            </a:xfrm>
            <a:custGeom>
              <a:avLst/>
              <a:gdLst/>
              <a:ahLst/>
              <a:cxnLst/>
              <a:rect r="r" b="b" t="t" l="l"/>
              <a:pathLst>
                <a:path h="11012219" w="21676285">
                  <a:moveTo>
                    <a:pt x="0" y="0"/>
                  </a:moveTo>
                  <a:lnTo>
                    <a:pt x="21676285" y="0"/>
                  </a:lnTo>
                  <a:lnTo>
                    <a:pt x="21676285" y="11012219"/>
                  </a:lnTo>
                  <a:lnTo>
                    <a:pt x="0" y="110122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676284" cy="1101221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Riot Games – Campanha “RiotX Arcane” | Lançamento da Série Arcane (Netflix)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Riot Games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2021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Projetos Sênior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42"/>
                </a:lnSpc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novembro de 2021, liderei a campanha “RiotX Arcane” para o lançamento da série Arcane, da Netflix, baseada no universo de League of Legends. Uma campanha global integrada, com ativações on-line e off-line, que se tornou um marco na indústria do entretenimento e dos games.</a:t>
              </a:r>
            </a:p>
            <a:p>
              <a:pPr algn="l">
                <a:lnSpc>
                  <a:spcPts val="2542"/>
                </a:lnSpc>
              </a:pP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Estreia Global Interativa: Transmissão ao vivo do 1º episódio na Twitch, com permissão inédita para co-streaming por criadores — quebrando paradigmas de lançamento no streaming.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Eventos In-Game: Todos os jogos da Riot receberam conteúdos exclusivos de Arcane, como skins, recompensas e modos temáticos.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Parcerias Cross-Branding: Fortnite, PUBG Mobile, Among Us e outros títulos receberam colaborações visuais e narrativas ligadas ao universo da série.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Experiência Imersiva em São Paulo:</a:t>
              </a:r>
            </a:p>
            <a:p>
              <a:pPr algn="l" marL="392071" indent="-130690" lvl="2">
                <a:lnSpc>
                  <a:spcPts val="2542"/>
                </a:lnSpc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Realizamos ativações presenciais especiais na capital paulista, com ambientes temáticos inspirados nas cidades de Piltover e Zaun, trazendo os fãs para dentro do universo da série com cenografia, trilha e ambientação. Os espaços contaram com interações sensoriais e instagramáveis, que geraram forte engajamento nas redes sociais.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Resultado: Um dos maiores lançamentos transmídia da história da Riot, fortalecendo o vínculo entre marca e comunidade e expandindo League of Legends para o mainstream.</a:t>
              </a:r>
            </a:p>
            <a:p>
              <a:pPr algn="l" marL="392071" indent="-130690" lvl="2">
                <a:lnSpc>
                  <a:spcPts val="2542"/>
                </a:lnSpc>
              </a:pP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1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youtube.com/watch?v=IA-v_LB3Qpc"/>
                </a:rPr>
                <a:t>Assista à campanha oficial</a:t>
              </a:r>
            </a:p>
            <a:p>
              <a:pPr algn="l" marL="392071" indent="-130690" lvl="2">
                <a:lnSpc>
                  <a:spcPts val="23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1800" y="381819"/>
            <a:ext cx="12344400" cy="2411468"/>
            <a:chOff x="0" y="0"/>
            <a:chExt cx="16459200" cy="321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3215290"/>
            </a:xfrm>
            <a:custGeom>
              <a:avLst/>
              <a:gdLst/>
              <a:ahLst/>
              <a:cxnLst/>
              <a:rect r="r" b="b" t="t" l="l"/>
              <a:pathLst>
                <a:path h="321529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215290"/>
                  </a:lnTo>
                  <a:lnTo>
                    <a:pt x="0" y="321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3215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  <a:r>
                <a:rPr lang="en-US" sz="296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WIEDEN+KENNEDY</a:t>
              </a:r>
              <a:r>
                <a:rPr lang="en-US" sz="2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– ACCOUNT MANAGER SENIOR</a:t>
              </a:r>
            </a:p>
            <a:p>
              <a:pPr algn="ctr">
                <a:lnSpc>
                  <a:spcPts val="3564"/>
                </a:lnSpc>
              </a:pPr>
              <a:r>
                <a:rPr lang="en-US" sz="2969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(JUN 2021 – SET 2022)</a:t>
              </a:r>
            </a:p>
            <a:p>
              <a:pPr algn="ctr">
                <a:lnSpc>
                  <a:spcPts val="3564"/>
                </a:lnSpc>
              </a:pPr>
            </a:p>
            <a:p>
              <a:pPr algn="ctr">
                <a:lnSpc>
                  <a:spcPts val="35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75387" y="8359493"/>
            <a:ext cx="2712613" cy="2712613"/>
            <a:chOff x="0" y="0"/>
            <a:chExt cx="3616817" cy="3616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6833" cy="3616833"/>
            </a:xfrm>
            <a:custGeom>
              <a:avLst/>
              <a:gdLst/>
              <a:ahLst/>
              <a:cxnLst/>
              <a:rect r="r" b="b" t="t" l="l"/>
              <a:pathLst>
                <a:path h="3616833" w="3616833">
                  <a:moveTo>
                    <a:pt x="0" y="0"/>
                  </a:moveTo>
                  <a:lnTo>
                    <a:pt x="3616833" y="0"/>
                  </a:lnTo>
                  <a:lnTo>
                    <a:pt x="3616833" y="3616833"/>
                  </a:lnTo>
                  <a:lnTo>
                    <a:pt x="0" y="3616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3239704"/>
            <a:ext cx="12344400" cy="3915456"/>
            <a:chOff x="0" y="0"/>
            <a:chExt cx="16459200" cy="5220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220608"/>
            </a:xfrm>
            <a:custGeom>
              <a:avLst/>
              <a:gdLst/>
              <a:ahLst/>
              <a:cxnLst/>
              <a:rect r="r" b="b" t="t" l="l"/>
              <a:pathLst>
                <a:path h="522060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220608"/>
                  </a:lnTo>
                  <a:lnTo>
                    <a:pt x="0" y="52206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5230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</a:t>
              </a: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99061" y="6101160"/>
            <a:ext cx="8289877" cy="5668813"/>
            <a:chOff x="0" y="0"/>
            <a:chExt cx="11053169" cy="75584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3191" cy="7558405"/>
            </a:xfrm>
            <a:custGeom>
              <a:avLst/>
              <a:gdLst/>
              <a:ahLst/>
              <a:cxnLst/>
              <a:rect r="r" b="b" t="t" l="l"/>
              <a:pathLst>
                <a:path h="7558405" w="11053191">
                  <a:moveTo>
                    <a:pt x="0" y="0"/>
                  </a:moveTo>
                  <a:lnTo>
                    <a:pt x="11053191" y="0"/>
                  </a:lnTo>
                  <a:lnTo>
                    <a:pt x="11053191" y="7558405"/>
                  </a:lnTo>
                  <a:lnTo>
                    <a:pt x="0" y="7558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37441" y="4168284"/>
            <a:ext cx="1630359" cy="2016035"/>
            <a:chOff x="0" y="0"/>
            <a:chExt cx="2173812" cy="26880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859" cy="2688082"/>
            </a:xfrm>
            <a:custGeom>
              <a:avLst/>
              <a:gdLst/>
              <a:ahLst/>
              <a:cxnLst/>
              <a:rect r="r" b="b" t="t" l="l"/>
              <a:pathLst>
                <a:path h="2688082" w="2173859">
                  <a:moveTo>
                    <a:pt x="0" y="0"/>
                  </a:moveTo>
                  <a:lnTo>
                    <a:pt x="2173859" y="0"/>
                  </a:lnTo>
                  <a:lnTo>
                    <a:pt x="2173859" y="2688082"/>
                  </a:lnTo>
                  <a:lnTo>
                    <a:pt x="0" y="2688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827" t="0" r="-11825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337449" y="9601844"/>
            <a:ext cx="1843702" cy="847081"/>
            <a:chOff x="0" y="0"/>
            <a:chExt cx="2458269" cy="1129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459" r="-2" b="-1046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597786" y="4762824"/>
            <a:ext cx="705931" cy="705931"/>
          </a:xfrm>
          <a:custGeom>
            <a:avLst/>
            <a:gdLst/>
            <a:ahLst/>
            <a:cxnLst/>
            <a:rect r="r" b="b" t="t" l="l"/>
            <a:pathLst>
              <a:path h="705931" w="705931">
                <a:moveTo>
                  <a:pt x="0" y="0"/>
                </a:moveTo>
                <a:lnTo>
                  <a:pt x="705931" y="0"/>
                </a:lnTo>
                <a:lnTo>
                  <a:pt x="705931" y="705931"/>
                </a:lnTo>
                <a:lnTo>
                  <a:pt x="0" y="705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04500" y="4786072"/>
            <a:ext cx="659436" cy="659436"/>
          </a:xfrm>
          <a:custGeom>
            <a:avLst/>
            <a:gdLst/>
            <a:ahLst/>
            <a:cxnLst/>
            <a:rect r="r" b="b" t="t" l="l"/>
            <a:pathLst>
              <a:path h="659436" w="659436">
                <a:moveTo>
                  <a:pt x="0" y="0"/>
                </a:moveTo>
                <a:lnTo>
                  <a:pt x="659436" y="0"/>
                </a:lnTo>
                <a:lnTo>
                  <a:pt x="659436" y="659436"/>
                </a:lnTo>
                <a:lnTo>
                  <a:pt x="0" y="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00300"/>
            <a:ext cx="16566843" cy="6788944"/>
            <a:chOff x="0" y="0"/>
            <a:chExt cx="22089124" cy="905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89125" cy="9051925"/>
            </a:xfrm>
            <a:custGeom>
              <a:avLst/>
              <a:gdLst/>
              <a:ahLst/>
              <a:cxnLst/>
              <a:rect r="r" b="b" t="t" l="l"/>
              <a:pathLst>
                <a:path h="9051925" w="22089125">
                  <a:moveTo>
                    <a:pt x="0" y="0"/>
                  </a:moveTo>
                  <a:lnTo>
                    <a:pt x="22089125" y="0"/>
                  </a:lnTo>
                  <a:lnTo>
                    <a:pt x="22089125" y="9051925"/>
                  </a:lnTo>
                  <a:lnTo>
                    <a:pt x="0" y="9051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089124" cy="9051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– ATIVAÇÕES E ESTRATÉGIA DE MARCA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(via UMAUMA)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2019–2020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 UMAUMA, liderei as ativações e estratégias de marketing para o portfólio da Diageo, uma das maiores empresas de bebidas premium do mundo. Atuei no planejamento e execução de ações para marcas como Johnnie Walker, Tanqueray, Smirnoff e Ypióca, com foco em ativação de marca, eventos proprietários, experiências de consumo e patrocínios.</a:t>
              </a:r>
            </a:p>
            <a:p>
              <a:pPr algn="l">
                <a:lnSpc>
                  <a:spcPts val="2735"/>
                </a:lnSpc>
              </a:pP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e execução de eventos de alto padrão com foco em brand experience e posicionamento aspiracional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Gestão de ações de brand content, experiências imersivas e sampling em eventos nacionais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Coordenação com equipes de criação, produção e logística, além de interface com o cliente e fornecedores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Participação na estratégia de brand building e ativação em pontos de venda e lifestyle hubs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Esses projetos ajudaram a consolidar a presença das marcas da Diageo entre os consumidores jovens e formadores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37449" y="9601844"/>
            <a:ext cx="1843702" cy="847081"/>
            <a:chOff x="0" y="0"/>
            <a:chExt cx="2458269" cy="11294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459" r="-2" b="-10462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318" y="1508111"/>
            <a:ext cx="17970665" cy="9054494"/>
            <a:chOff x="0" y="0"/>
            <a:chExt cx="23960887" cy="12072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60886" cy="12072658"/>
            </a:xfrm>
            <a:custGeom>
              <a:avLst/>
              <a:gdLst/>
              <a:ahLst/>
              <a:cxnLst/>
              <a:rect r="r" b="b" t="t" l="l"/>
              <a:pathLst>
                <a:path h="12072658" w="23960886">
                  <a:moveTo>
                    <a:pt x="0" y="0"/>
                  </a:moveTo>
                  <a:lnTo>
                    <a:pt x="23960886" y="0"/>
                  </a:lnTo>
                  <a:lnTo>
                    <a:pt x="23960886" y="12072658"/>
                  </a:lnTo>
                  <a:lnTo>
                    <a:pt x="0" y="12072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960887" cy="1206313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CLASS BRASIL 2019 – FINAL NACIONAL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World Class é a maior e mais prestigiada competição de coquetelaria do mundo, promovida globalmente pela Diageo para celebrar a excelência em mixologia. Em 2019, lideramos a organização da final brasileira, que teve como objetivo selecionar o bartender que representaria o Brasil na final mundial em Glasgow, Escócia.​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443992" indent="-147997" lvl="2">
                <a:lnSpc>
                  <a:spcPts val="2879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Produção de uma final nacional exclusiva, com desafios práticos e experiências sensoriais que testaram criatividade, técnica e conhecimento dos competidores</a:t>
              </a:r>
            </a:p>
            <a:p>
              <a:pPr algn="l" marL="443992" indent="-147997" lvl="2">
                <a:lnSpc>
                  <a:spcPts val="2879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🏆 Avaliação com júri técnico, incluindo especialistas da Diageo, bartenders internacionais e formadores de opinião do setor</a:t>
              </a:r>
            </a:p>
            <a:p>
              <a:pPr algn="l" marL="443992" indent="-147997" lvl="2">
                <a:lnSpc>
                  <a:spcPts val="2879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🎉 Ambientação premium, pensada para proporcionar uma experiência sofisticada e envolvente, refletindo o alto padrão da competição</a:t>
              </a:r>
            </a:p>
            <a:p>
              <a:pPr algn="l" marL="443992" indent="-147997" lvl="2">
                <a:lnSpc>
                  <a:spcPts val="2879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💬 Interação com público convidado e imprensa, reforçando o posicionamento da Diageo como referência em inovação e qualidade no universo da coquetelaria​</a:t>
              </a:r>
            </a:p>
            <a:p>
              <a:pPr algn="l" marL="443992" indent="-147997" lvl="2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o planejamento criativo até a execução operacional, garantindo que cada detalhe estivesse alinhado à magnitude e reputação da World Class como selo de excelência: https://worldclass.usbg.org/?utm_source=chatgpt.com</a:t>
              </a:r>
            </a:p>
            <a:p>
              <a:pPr algn="l" marL="443992" indent="-147997" lvl="2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 marL="443992" indent="-147997" lvl="2">
                <a:lnSpc>
                  <a:spcPts val="2879"/>
                </a:lnSpc>
                <a:buFont typeface="Arial"/>
                <a:buChar char="⚬"/>
              </a:pPr>
              <a:r>
                <a:rPr lang="en-US" sz="24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EZOxWzpxCv/?img_index=1"/>
                </a:rPr>
                <a:t>Post do evento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44446" y="8897394"/>
            <a:ext cx="5684726" cy="1846815"/>
            <a:chOff x="0" y="0"/>
            <a:chExt cx="7579635" cy="24624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9614" cy="2462403"/>
            </a:xfrm>
            <a:custGeom>
              <a:avLst/>
              <a:gdLst/>
              <a:ahLst/>
              <a:cxnLst/>
              <a:rect r="r" b="b" t="t" l="l"/>
              <a:pathLst>
                <a:path h="2462403" w="7579614">
                  <a:moveTo>
                    <a:pt x="0" y="0"/>
                  </a:moveTo>
                  <a:lnTo>
                    <a:pt x="7579614" y="0"/>
                  </a:lnTo>
                  <a:lnTo>
                    <a:pt x="7579614" y="2462403"/>
                  </a:lnTo>
                  <a:lnTo>
                    <a:pt x="0" y="246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345" y="1781426"/>
            <a:ext cx="17061310" cy="8731760"/>
            <a:chOff x="0" y="0"/>
            <a:chExt cx="22748413" cy="11642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48413" cy="11642347"/>
            </a:xfrm>
            <a:custGeom>
              <a:avLst/>
              <a:gdLst/>
              <a:ahLst/>
              <a:cxnLst/>
              <a:rect r="r" b="b" t="t" l="l"/>
              <a:pathLst>
                <a:path h="11642347" w="22748413">
                  <a:moveTo>
                    <a:pt x="0" y="0"/>
                  </a:moveTo>
                  <a:lnTo>
                    <a:pt x="22748413" y="0"/>
                  </a:lnTo>
                  <a:lnTo>
                    <a:pt x="22748413" y="11642347"/>
                  </a:lnTo>
                  <a:lnTo>
                    <a:pt x="0" y="11642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748413" cy="116518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CHARLES TANQUERAY DAY – Experiência Urbana + Show do Silva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(Tanqueray)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ANO: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2019, lideramos o projeto Charles Tanqueray Day, uma ativação urbana ousada e memorável da marca Tanqueray, realizada no coração do bairro de Pinheiros, em São Paulo.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evento aconteceu literalmente no meio da rua, exigindo um processo rigoroso de aprovação legal e obtenção de alvarás — um dos grandes desafios da operação. A atmosfera foi elevada com um show especial do cantor Silva, em plena ascensão naquele momento, que atraiu o público-alvo com sofisticação, brasilidade e elegância.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do projeto: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360°: Criamos a estratégia completa — do conceito criativo à campanha de mídia e produção do evento.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Ativação urbana inédita: Fechamento de rua em zona nobre da cidade com toda a estrutura para receber um público exigente e altamente conectado.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Experiência sensorial: Cenografia elegante, drinks autorais, ambientação instagramável e muita música.</a:t>
              </a:r>
            </a:p>
            <a:p>
              <a:pPr algn="l" marL="355193" indent="-118398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Alinhamento estratégico: Toda a entrega alinhada ao reposicionamento premium da marca no Brasil.</a:t>
              </a:r>
            </a:p>
            <a:p>
              <a:pPr algn="l" marL="355153" indent="-11838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o planejamento até a execução, articulando entre criação, produção, mídia, jurídico e cliente — garantindo a excelência da entrega em todos os pontos de contato.</a:t>
              </a:r>
            </a:p>
            <a:p>
              <a:pPr algn="l" marL="355153" indent="-118384" lvl="2">
                <a:lnSpc>
                  <a:spcPts val="2304"/>
                </a:lnSpc>
              </a:pP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B3ksyW6gzFY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1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B3uV0G9gLW0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2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instagram.com/p/B32CLNrAkjC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3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instagram.com/p/B372dJKAPKr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4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6" tooltip="https://www.instagram.com/p/B4FfgNZAYMH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5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7" tooltip="https://www.instagram.com/p/B4FfgNZAYMH/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6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8" tooltip="https://www.instagram.com/p/B4KqTcUA-ct/?img_index=1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7</a:t>
              </a:r>
            </a:p>
            <a:p>
              <a:pPr algn="l" marL="355153" indent="-118384" lvl="2">
                <a:lnSpc>
                  <a:spcPts val="2304"/>
                </a:lnSpc>
              </a:pP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9" tooltip="https://www.instagram.com/p/CDJny7ZgKrH/?img_index=3"/>
                </a:rPr>
                <a:t>Veja no Instagram</a:t>
              </a:r>
              <a:r>
                <a:rPr lang="en-US" sz="19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8</a:t>
              </a:r>
            </a:p>
            <a:p>
              <a:pPr algn="l" marL="355153" indent="-118384" lvl="2">
                <a:lnSpc>
                  <a:spcPts val="27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85036" y="8879083"/>
            <a:ext cx="2502964" cy="1407917"/>
            <a:chOff x="0" y="0"/>
            <a:chExt cx="3337285" cy="18772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7306" cy="1877187"/>
            </a:xfrm>
            <a:custGeom>
              <a:avLst/>
              <a:gdLst/>
              <a:ahLst/>
              <a:cxnLst/>
              <a:rect r="r" b="b" t="t" l="l"/>
              <a:pathLst>
                <a:path h="1877187" w="3337306">
                  <a:moveTo>
                    <a:pt x="0" y="0"/>
                  </a:moveTo>
                  <a:lnTo>
                    <a:pt x="3337306" y="0"/>
                  </a:lnTo>
                  <a:lnTo>
                    <a:pt x="3337306" y="1877187"/>
                  </a:lnTo>
                  <a:lnTo>
                    <a:pt x="0" y="1877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1075" y="1623849"/>
            <a:ext cx="16053956" cy="7311606"/>
            <a:chOff x="0" y="0"/>
            <a:chExt cx="21405275" cy="9748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05275" cy="9748808"/>
            </a:xfrm>
            <a:custGeom>
              <a:avLst/>
              <a:gdLst/>
              <a:ahLst/>
              <a:cxnLst/>
              <a:rect r="r" b="b" t="t" l="l"/>
              <a:pathLst>
                <a:path h="9748808" w="21405275">
                  <a:moveTo>
                    <a:pt x="0" y="0"/>
                  </a:moveTo>
                  <a:lnTo>
                    <a:pt x="21405275" y="0"/>
                  </a:lnTo>
                  <a:lnTo>
                    <a:pt x="21405275" y="9748808"/>
                  </a:lnTo>
                  <a:lnTo>
                    <a:pt x="0" y="9748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405275" cy="97488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YPIÓCA – EXPERIÊNCIA PREMIUM PARA DONOS DE BARES (SP)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Diageo (Ypióca)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ANO: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Account Manager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Como parte das ativações em torno do Dia Nacional da Cachaça, organizamos um evento proprietário e exclusivo da linha premium de Ypióca, voltado para donos de bares e estabelecimentos parceiros em São Paulo.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proposta foi fortalecer o relacionamento B2B e apresentar a sofisticação e a autenticidade dos blends Ypióca, destacando o cuidado artesanal e o potencial de uso da cachaça em coquetelaria contemporânea.</a:t>
              </a:r>
            </a:p>
            <a:p>
              <a:pPr algn="l">
                <a:lnSpc>
                  <a:spcPts val="2759"/>
                </a:lnSpc>
              </a:pP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425370" indent="-141790" lvl="2">
                <a:lnSpc>
                  <a:spcPts val="275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Apresentação técnica dos blends premium, com explicações sobre o processo de produção, envelhecimento e diferenciais sensoriais</a:t>
              </a:r>
            </a:p>
            <a:p>
              <a:pPr algn="l" marL="425370" indent="-141790" lvl="2">
                <a:lnSpc>
                  <a:spcPts val="275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🍹 Degustação guiada e drinks exclusivos, reforçando a versatilidade da Ypióca na coquetelaria</a:t>
              </a:r>
            </a:p>
            <a:p>
              <a:pPr algn="l" marL="425370" indent="-141790" lvl="2">
                <a:lnSpc>
                  <a:spcPts val="275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💬 Espaço de troca entre marca e parceiros estratégicos, promovendo relacionamento direto e escuta ativa</a:t>
              </a:r>
            </a:p>
            <a:p>
              <a:pPr algn="l" marL="425370" indent="-141790" lvl="2">
                <a:lnSpc>
                  <a:spcPts val="2759"/>
                </a:lnSpc>
                <a:buFont typeface="Arial"/>
                <a:buChar char="⚬"/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🧡 Ambientação sofisticada e 100% brasileira, refletindo o reposicionamento da marca no mercado</a:t>
              </a:r>
            </a:p>
            <a:p>
              <a:pPr algn="l" marL="425370" indent="-141790" lvl="2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a concepção criativa até a entrega final, coordenando logística, produção, conteúdo e relacionamento com o cliente — garantindo uma experiência marcante para os convidados e fortalecendo a presença da Ypióca no trade.</a:t>
              </a:r>
            </a:p>
            <a:p>
              <a:pPr algn="l" marL="425370" indent="-141790" lvl="2">
                <a:lnSpc>
                  <a:spcPts val="2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03010" y="8956353"/>
            <a:ext cx="2893530" cy="1627611"/>
            <a:chOff x="0" y="0"/>
            <a:chExt cx="3858040" cy="2170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8006" cy="2170176"/>
            </a:xfrm>
            <a:custGeom>
              <a:avLst/>
              <a:gdLst/>
              <a:ahLst/>
              <a:cxnLst/>
              <a:rect r="r" b="b" t="t" l="l"/>
              <a:pathLst>
                <a:path h="2170176" w="3858006">
                  <a:moveTo>
                    <a:pt x="0" y="0"/>
                  </a:moveTo>
                  <a:lnTo>
                    <a:pt x="3858006" y="0"/>
                  </a:lnTo>
                  <a:lnTo>
                    <a:pt x="3858006" y="2170176"/>
                  </a:lnTo>
                  <a:lnTo>
                    <a:pt x="0" y="217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9377" y="1623849"/>
            <a:ext cx="16646353" cy="8716492"/>
            <a:chOff x="0" y="0"/>
            <a:chExt cx="22195137" cy="116219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95137" cy="11621989"/>
            </a:xfrm>
            <a:custGeom>
              <a:avLst/>
              <a:gdLst/>
              <a:ahLst/>
              <a:cxnLst/>
              <a:rect r="r" b="b" t="t" l="l"/>
              <a:pathLst>
                <a:path h="11621989" w="22195137">
                  <a:moveTo>
                    <a:pt x="0" y="0"/>
                  </a:moveTo>
                  <a:lnTo>
                    <a:pt x="22195137" y="0"/>
                  </a:lnTo>
                  <a:lnTo>
                    <a:pt x="22195137" y="11621989"/>
                  </a:lnTo>
                  <a:lnTo>
                    <a:pt x="0" y="116219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95137" cy="11621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YPIÓCA – CELEBRAÇÃO DO DIA NACIONAL DA CACHAÇA NO ORFEU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(Ypióca)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dia 13 de setembro, em homenagem ao Dia Nacional da Cachaça, organizamos um evento exclusivo para a Ypióca, a cachaça mais antiga do Brasil, com o objetivo de reforçar seu posicionamento premium e celebrar a brasilidade com autenticidade e sofisticação.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evento foi realizado no Orfeu, espaço referência em gastronomia e música brasileira em São Paulo, e contou com uma atmosfera intimista e cuidadosamente pensada para destacar os sabores e a história da Ypióca.</a:t>
              </a:r>
            </a:p>
            <a:p>
              <a:pPr algn="l">
                <a:lnSpc>
                  <a:spcPts val="2759"/>
                </a:lnSpc>
              </a:pP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Degustação da linha premium de Ypióca, com harmonizações e coquetelaria assinada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🎶 Show especial de Mariana Aydar, representando a música brasileira contemporânea com raízes populares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🧡 Experiência 100% brasileira, com ambientação inspirada na cultura nordestina, reforçando a origem da marca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💬 Presença de convidados especiais, influenciadores e formadores de opinião, fortalecendo o vínculo emocional com a marca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da concepção e gestão do projeto, cuidando desde o planejamento estratégico até a produção completa, garantindo uma celebração memorável para a marca e seus stakeholders.</a:t>
              </a:r>
            </a:p>
            <a:p>
              <a:pPr algn="l">
                <a:lnSpc>
                  <a:spcPts val="2759"/>
                </a:lnSpc>
              </a:pPr>
              <a:r>
                <a:rPr lang="en-US" sz="22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EphMZsgww1/?img_index=1"/>
                </a:rPr>
                <a:t>🔗 Ver no Instagram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1 </a:t>
              </a:r>
            </a:p>
            <a:p>
              <a:pPr algn="l">
                <a:lnSpc>
                  <a:spcPts val="2759"/>
                </a:lnSpc>
              </a:pPr>
              <a:r>
                <a:rPr lang="en-US" sz="22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EphMZsgww1/?img_index=1"/>
                </a:rPr>
                <a:t>🔗 Ver no </a:t>
              </a:r>
              <a:r>
                <a:rPr lang="en-US" sz="229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instagram.com/p/CD4pBRXpVJj/?img_index=1"/>
                </a:rPr>
                <a:t>Instagram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2</a:t>
              </a:r>
            </a:p>
            <a:p>
              <a:pPr algn="l">
                <a:lnSpc>
                  <a:spcPts val="2759"/>
                </a:lnSpc>
              </a:pPr>
            </a:p>
            <a:p>
              <a:pPr algn="l">
                <a:lnSpc>
                  <a:spcPts val="2759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 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03010" y="8956353"/>
            <a:ext cx="2893530" cy="1627611"/>
            <a:chOff x="0" y="0"/>
            <a:chExt cx="3858040" cy="2170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8006" cy="2170176"/>
            </a:xfrm>
            <a:custGeom>
              <a:avLst/>
              <a:gdLst/>
              <a:ahLst/>
              <a:cxnLst/>
              <a:rect r="r" b="b" t="t" l="l"/>
              <a:pathLst>
                <a:path h="2170176" w="3858006">
                  <a:moveTo>
                    <a:pt x="0" y="0"/>
                  </a:moveTo>
                  <a:lnTo>
                    <a:pt x="3858006" y="0"/>
                  </a:lnTo>
                  <a:lnTo>
                    <a:pt x="3858006" y="2170176"/>
                  </a:lnTo>
                  <a:lnTo>
                    <a:pt x="0" y="217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623" y="1815511"/>
            <a:ext cx="16646353" cy="10198480"/>
            <a:chOff x="0" y="0"/>
            <a:chExt cx="22195137" cy="135979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95137" cy="13597973"/>
            </a:xfrm>
            <a:custGeom>
              <a:avLst/>
              <a:gdLst/>
              <a:ahLst/>
              <a:cxnLst/>
              <a:rect r="r" b="b" t="t" l="l"/>
              <a:pathLst>
                <a:path h="13597973" w="22195137">
                  <a:moveTo>
                    <a:pt x="0" y="0"/>
                  </a:moveTo>
                  <a:lnTo>
                    <a:pt x="22195137" y="0"/>
                  </a:lnTo>
                  <a:lnTo>
                    <a:pt x="22195137" y="13597973"/>
                  </a:lnTo>
                  <a:lnTo>
                    <a:pt x="0" y="135979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95137" cy="136074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Ativação da Ypióca na Churrascada</a:t>
              </a:r>
            </a:p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– Ypióca</a:t>
              </a:r>
            </a:p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No evento Churrascada 2019, liderei a ativação da Ypióca, marca centenária do portfólio da Diageo, com o objetivo de reposicioná-la de forma mais jovem, urbana e conectada à nova gastronomia brasileira. A estratégia foi aproveitar o contexto premium e cultural da Churrascada para criar uma experiência sensorial, autêntica e instagramável, que dialogasse com o lifestyle dos participantes.</a:t>
              </a:r>
            </a:p>
            <a:p>
              <a:pPr algn="l">
                <a:lnSpc>
                  <a:spcPts val="2231"/>
                </a:lnSpc>
              </a:pPr>
            </a:p>
            <a:p>
              <a:pPr algn="l">
                <a:lnSpc>
                  <a:spcPts val="2231"/>
                </a:lnSpc>
              </a:pPr>
              <a:r>
                <a:rPr lang="en-US" sz="185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🎯 Destaques do projeto:</a:t>
              </a:r>
            </a:p>
            <a:p>
              <a:pPr algn="l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Bar Ypióca: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Bar exclusivo com coquetelaria criativa à base de cachaça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Drinks assinados por bartenders renomados, exaltando o terroir brasileiro</a:t>
              </a:r>
            </a:p>
            <a:p>
              <a:pPr algn="l" marL="343933" indent="-114644" lvl="2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🔥 Espaço imersivo e interativo: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Ambientes com elementos rústicos e tropicais, inspirados na identidade do Ceará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Estação de fotos com peças em madeira, palha e luz quente, elevando o valor da experiência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Ações digitais com integração às redes sociais</a:t>
              </a:r>
            </a:p>
            <a:p>
              <a:pPr algn="l" marL="343933" indent="-114644" lvl="2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🎪 Experiência gastronômica: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Harmonizações com pratos de chefs premiados</a:t>
              </a:r>
            </a:p>
            <a:p>
              <a:pPr algn="l" marL="343933" indent="-114644" lvl="2">
                <a:lnSpc>
                  <a:spcPts val="2231"/>
                </a:lnSpc>
                <a:buFont typeface="Arial"/>
                <a:buChar char="⚬"/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Participação ativa no circuito de experiências da Churrascada</a:t>
              </a:r>
            </a:p>
            <a:p>
              <a:pPr algn="l" marL="343933" indent="-114644" lvl="2">
                <a:lnSpc>
                  <a:spcPts val="2231"/>
                </a:lnSpc>
              </a:pPr>
            </a:p>
            <a:p>
              <a:pPr algn="l" marL="343933" indent="-114644" lvl="2">
                <a:lnSpc>
                  <a:spcPts val="2231"/>
                </a:lnSpc>
              </a:pPr>
              <a:r>
                <a:rPr lang="en-US" b="true" sz="185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💼 Minha atuação:</a:t>
              </a:r>
            </a:p>
            <a:p>
              <a:pPr algn="l" marL="343933" indent="-114644" lvl="2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Fui responsável por toda a operação e entrega da ativação, do conceito à execução onsite. Coordenei fornecedores, cenografia, equipe de bar e produção de conteúdo, garantindo que a presença da Ypióca se destacasse no evento como uma marca de tradição que se reinventa com frescor, criatividade e brasilidade.</a:t>
              </a:r>
            </a:p>
            <a:p>
              <a:pPr algn="l" marL="343933" indent="-114644" lvl="2">
                <a:lnSpc>
                  <a:spcPts val="2231"/>
                </a:lnSpc>
              </a:pPr>
            </a:p>
            <a:p>
              <a:pPr algn="l" marL="343933" indent="-114644" lvl="2">
                <a:lnSpc>
                  <a:spcPts val="2231"/>
                </a:lnSpc>
              </a:pPr>
              <a:r>
                <a:rPr lang="en-US" sz="1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18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ByBBzbTHm3v/"/>
                </a:rPr>
                <a:t>Ver no Instagram – post 1</a:t>
              </a:r>
            </a:p>
            <a:p>
              <a:pPr algn="l" marL="343933" indent="-114644" lvl="2">
                <a:lnSpc>
                  <a:spcPts val="223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43933" indent="-114644" lvl="2">
                <a:lnSpc>
                  <a:spcPts val="2351"/>
                </a:lnSpc>
              </a:pPr>
            </a:p>
            <a:p>
              <a:pPr algn="l" marL="362434" indent="-120811" lvl="2">
                <a:lnSpc>
                  <a:spcPts val="2351"/>
                </a:lnSpc>
              </a:pPr>
              <a:r>
                <a:rPr lang="en-US" sz="1958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 </a:t>
              </a:r>
            </a:p>
            <a:p>
              <a:pPr algn="l" marL="343933" indent="-114644" lvl="2">
                <a:lnSpc>
                  <a:spcPts val="23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03010" y="8956353"/>
            <a:ext cx="2893530" cy="1627611"/>
            <a:chOff x="0" y="0"/>
            <a:chExt cx="3858040" cy="2170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8006" cy="2170176"/>
            </a:xfrm>
            <a:custGeom>
              <a:avLst/>
              <a:gdLst/>
              <a:ahLst/>
              <a:cxnLst/>
              <a:rect r="r" b="b" t="t" l="l"/>
              <a:pathLst>
                <a:path h="2170176" w="3858006">
                  <a:moveTo>
                    <a:pt x="0" y="0"/>
                  </a:moveTo>
                  <a:lnTo>
                    <a:pt x="3858006" y="0"/>
                  </a:lnTo>
                  <a:lnTo>
                    <a:pt x="3858006" y="2170176"/>
                  </a:lnTo>
                  <a:lnTo>
                    <a:pt x="0" y="217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950" y="1694321"/>
            <a:ext cx="17235329" cy="9840995"/>
            <a:chOff x="0" y="0"/>
            <a:chExt cx="22980439" cy="13121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80439" cy="13121326"/>
            </a:xfrm>
            <a:custGeom>
              <a:avLst/>
              <a:gdLst/>
              <a:ahLst/>
              <a:cxnLst/>
              <a:rect r="r" b="b" t="t" l="l"/>
              <a:pathLst>
                <a:path h="13121326" w="22980439">
                  <a:moveTo>
                    <a:pt x="0" y="0"/>
                  </a:moveTo>
                  <a:lnTo>
                    <a:pt x="22980439" y="0"/>
                  </a:lnTo>
                  <a:lnTo>
                    <a:pt x="22980439" y="13121326"/>
                  </a:lnTo>
                  <a:lnTo>
                    <a:pt x="0" y="131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980439" cy="1312132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70"/>
                </a:lnSpc>
              </a:pPr>
              <a:r>
                <a:rPr lang="en-US" b="true" sz="205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2" tooltip="https://www.instagram.com/p/CDgrz3xgZF_/"/>
                </a:rPr>
                <a:t>PROJETO: </a:t>
              </a: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Dgrz3xgZF_/"/>
                </a:rPr>
                <a:t>YPIÓCA – ATIVAÇÃO NACIONAL “Dia da Cachaça”</a:t>
              </a:r>
            </a:p>
            <a:p>
              <a:pPr algn="l">
                <a:lnSpc>
                  <a:spcPts val="2470"/>
                </a:lnSpc>
              </a:pPr>
              <a:r>
                <a:rPr lang="en-US" b="true" sz="205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4" tooltip="https://www.instagram.com/p/CDgrz3xgZF_/"/>
                </a:rPr>
                <a:t>CLIENTE: </a:t>
              </a: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instagram.com/p/CDgrz3xgZF_/"/>
                </a:rPr>
                <a:t>Diageo (Ypióca)</a:t>
              </a:r>
            </a:p>
            <a:p>
              <a:pPr algn="l">
                <a:lnSpc>
                  <a:spcPts val="2470"/>
                </a:lnSpc>
              </a:pPr>
              <a:r>
                <a:rPr lang="en-US" b="true" sz="205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6" tooltip="https://www.instagram.com/p/CDgrz3xgZF_/"/>
                </a:rPr>
                <a:t>ANO: </a:t>
              </a: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7" tooltip="https://www.instagram.com/p/CDgrz3xgZF_/"/>
                </a:rPr>
                <a:t>2020</a:t>
              </a:r>
            </a:p>
            <a:p>
              <a:pPr algn="l">
                <a:lnSpc>
                  <a:spcPts val="2470"/>
                </a:lnSpc>
              </a:pPr>
              <a:r>
                <a:rPr lang="en-US" b="true" sz="205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8" tooltip="https://www.instagram.com/p/CDgrz3xgZF_/"/>
                </a:rPr>
                <a:t>PAPEL:</a:t>
              </a: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9" tooltip="https://www.instagram.com/p/CDgrz3xgZF_/"/>
                </a:rPr>
                <a:t> Account Manager</a:t>
              </a:r>
            </a:p>
            <a:p>
              <a:pPr algn="l">
                <a:lnSpc>
                  <a:spcPts val="2470"/>
                </a:lnSpc>
              </a:pPr>
              <a:r>
                <a:rPr lang="en-US" b="true" sz="205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10" tooltip="https://www.instagram.com/p/CDgrz3xgZF_/"/>
                </a:rPr>
                <a:t>DESCRIÇÃO:</a:t>
              </a:r>
            </a:p>
            <a:p>
              <a:pPr algn="l">
                <a:lnSpc>
                  <a:spcPts val="2470"/>
                </a:lnSpc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1" tooltip="https://www.instagram.com/p/CDgrz3xgZF_/"/>
                </a:rPr>
                <a:t>Para celebrar o Dia Nacional da Cachaça, lideramos uma série de ativações para a Ypióca, que conectaram tradição, brasilidade e experiência sensorial em dois polos estratégicos do país: Fortaleza e São Paulo.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2" tooltip="https://www.instagram.com/p/CDgrz3xgZF_/"/>
                </a:rPr>
                <a:t>A proposta foi reforçar o posicionamento premium e cultural da marca, explorando as raízes da cachaça com um olhar contemporâneo — em ativações que envolveram desde o consumidor final até formadores de opinião e convidados especiais.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3" tooltip="https://www.instagram.com/p/CDgrz3xgZF_/"/>
                </a:rPr>
                <a:t>Destaques do projeto: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4" tooltip="https://www.instagram.com/p/CDgrz3xgZF_/"/>
                </a:rPr>
                <a:t>🌴 Fortaleza – Experiência Interativa no Shopping Iguatemi: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5" tooltip="https://www.instagram.com/p/CDgrz3xgZF_/"/>
                </a:rPr>
                <a:t>Espaço imersivo com experiências sensoriais sobre os blends da Ypióca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6" tooltip="https://www.instagram.com/p/CDgrz3xgZF_/"/>
                </a:rPr>
                <a:t>Harmonizações com pratos regionais e contemporâneos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7" tooltip="https://www.instagram.com/p/CDgrz3xgZF_/"/>
                </a:rPr>
                <a:t>Masterclasses de drinks e gastronomia com cachaça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8" tooltip="https://www.instagram.com/p/CDgrz3xgZF_/"/>
                </a:rPr>
                <a:t>Talks e conteúdos educativos sobre a tradição da bebida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9" tooltip="https://www.instagram.com/p/CDgrz3xgZF_/"/>
                </a:rPr>
                <a:t>🎵 São Paulo – Evento Exclusivo no Orfeu: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0" tooltip="https://www.instagram.com/p/CDgrz3xgZF_/"/>
                </a:rPr>
                <a:t>Ativação de rótulos da linha Premium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1" tooltip="https://www.instagram.com/p/CDgrz3xgZF_/"/>
                </a:rPr>
                <a:t>Show especial de Mariana Aydar, reforçando a sofisticação e brasilidade da marca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2" tooltip="https://www.instagram.com/p/CDgrz3xgZF_/"/>
                </a:rPr>
                <a:t>Ambientação intimista e presença de influenciadores e convidados-chave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3" tooltip="https://www.instagram.com/p/CDgrz3xgZF_/"/>
                </a:rPr>
                <a:t>💡 Resultados:</a:t>
              </a:r>
            </a:p>
            <a:p>
              <a:pPr algn="l" marL="380971" indent="-126990" lvl="2">
                <a:lnSpc>
                  <a:spcPts val="2470"/>
                </a:lnSpc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4" tooltip="https://www.instagram.com/p/CDgrz3xgZF_/"/>
                </a:rPr>
                <a:t>A campanha ampliou o reconhecimento da marca como símbolo de brasilidade sofisticada, unindo tradição e inovação com um olhar cultural e autêntico.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5" tooltip="https://www.instagram.com/p/CDgrz3xgZF_/"/>
                </a:rPr>
                <a:t>Assumi a liderança do projeto em todas as etapas — do planejamento criativo à execução logística — garantindo alinhamento estratégico com a Diageo e entrega premium em todas as frentes.</a:t>
              </a:r>
            </a:p>
            <a:p>
              <a:pPr algn="l" marL="380971" indent="-126990" lvl="2">
                <a:lnSpc>
                  <a:spcPts val="2470"/>
                </a:lnSpc>
                <a:buFont typeface="Arial"/>
                <a:buChar char="⚬"/>
              </a:pPr>
              <a:r>
                <a:rPr lang="en-US" sz="205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6" tooltip="https://www.instagram.com/p/CDgrz3xgZF_/"/>
                </a:rPr>
                <a:t>🔗 Ver no Instagram</a:t>
              </a:r>
            </a:p>
            <a:p>
              <a:pPr algn="l" marL="380971" indent="-126990" lvl="2">
                <a:lnSpc>
                  <a:spcPts val="223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03010" y="8956353"/>
            <a:ext cx="2893530" cy="1627611"/>
            <a:chOff x="0" y="0"/>
            <a:chExt cx="3858040" cy="2170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8006" cy="2170176"/>
            </a:xfrm>
            <a:custGeom>
              <a:avLst/>
              <a:gdLst/>
              <a:ahLst/>
              <a:cxnLst/>
              <a:rect r="r" b="b" t="t" l="l"/>
              <a:pathLst>
                <a:path h="2170176" w="3858006">
                  <a:moveTo>
                    <a:pt x="0" y="0"/>
                  </a:moveTo>
                  <a:lnTo>
                    <a:pt x="3858006" y="0"/>
                  </a:lnTo>
                  <a:lnTo>
                    <a:pt x="3858006" y="2170176"/>
                  </a:lnTo>
                  <a:lnTo>
                    <a:pt x="0" y="217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9756" y="1623849"/>
            <a:ext cx="14972781" cy="7644879"/>
            <a:chOff x="0" y="0"/>
            <a:chExt cx="19963708" cy="101931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63709" cy="10193172"/>
            </a:xfrm>
            <a:custGeom>
              <a:avLst/>
              <a:gdLst/>
              <a:ahLst/>
              <a:cxnLst/>
              <a:rect r="r" b="b" t="t" l="l"/>
              <a:pathLst>
                <a:path h="10193172" w="19963709">
                  <a:moveTo>
                    <a:pt x="0" y="0"/>
                  </a:moveTo>
                  <a:lnTo>
                    <a:pt x="19963709" y="0"/>
                  </a:lnTo>
                  <a:lnTo>
                    <a:pt x="19963709" y="10193172"/>
                  </a:lnTo>
                  <a:lnTo>
                    <a:pt x="0" y="101931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63708" cy="101931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Johnnie Walker – Happy Hour Blue Label | Convenção BTG Pactual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(Johnnie Walker)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Manager​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 convenção anual do Banco BTG Pactual, realizada no Hotel Hyatt em São Paulo, promovemos um happy hour exclusivo para os participantes, com foco em experiência de marca e relacionamento com rótulos de alta gama.​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ativação teve como objetivo proporcionar um momento de apreciação refinada com Johnnie Walker Blue Label e uma curadoria especial de Single Malts, reforçando a presença da marca em contextos sofisticados e executivos.​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Degustação guiada de whiskies premium, incluindo Blue Label e outros rótulos Single Malt renomados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Ativação voltada para público corporativo C-level, com foco em hospitalidade e exclusividade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Apresentações sensoriais e explicações técnicas, conduzidas por especialistas em destilados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✨ Cenografia elegante e personalizada, de acordo com o branding Blue Label e o tom do evento BTG​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Atuei como responsável pela coordenação completa do projeto, desde a proposta inicial até a produção final, garantindo total alinhamento com a sofisticação esperada pelo cliente e reforçando o posicionamento superpremium de Johnnie Walker no mercado.​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</a:t>
              </a: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Referência visual no Instagram:</a:t>
              </a:r>
            </a:p>
            <a:p>
              <a:pPr algn="l">
                <a:lnSpc>
                  <a:spcPts val="2520"/>
                </a:lnSpc>
              </a:pPr>
              <a:r>
                <a:rPr lang="en-US" sz="21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FVUcKRHNJC/?img_index=1"/>
                </a:rPr>
                <a:t>Post do evento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47990" y="7932710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865" y="1623849"/>
            <a:ext cx="17130453" cy="8587854"/>
            <a:chOff x="0" y="0"/>
            <a:chExt cx="22840604" cy="11450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40604" cy="11450472"/>
            </a:xfrm>
            <a:custGeom>
              <a:avLst/>
              <a:gdLst/>
              <a:ahLst/>
              <a:cxnLst/>
              <a:rect r="r" b="b" t="t" l="l"/>
              <a:pathLst>
                <a:path h="11450472" w="22840604">
                  <a:moveTo>
                    <a:pt x="0" y="0"/>
                  </a:moveTo>
                  <a:lnTo>
                    <a:pt x="22840604" y="0"/>
                  </a:lnTo>
                  <a:lnTo>
                    <a:pt x="22840604" y="11450472"/>
                  </a:lnTo>
                  <a:lnTo>
                    <a:pt x="0" y="114504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840604" cy="114504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 – LANÇAMENTO WHITE WALKER (Edição Game of Thrones)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(Johnnie Walker)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 marcar o lançamento do White Walker by Johnnie Walker, edição especial inspirada em Game of Thrones, realizamos um happy hour exclusivo com uma proposta imersiva e temática — unindo universo geek, branding premium e coquetelaria envolvente.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proposta foi criar uma atmosfera que evocasse o clima congelante dos White Walkers, transformando a apresentação do produto em uma verdadeira experiência sensorial e cultural.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❄️ Cenografia temática inspirada no universo de Game of Thrones, com luz azul, elementos de gelo seco e ambientação cenográfica para remeter à estética do Norte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Degustação dirigida do White Walker, com drinks criados exclusivamente para a ocasião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🎬 Ativação de marca conectada ao entretenimento, reforçando a afinidade do público com a cultura pop e o DNA inovador de Johnnie Walker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🤝 Evento intimista com convidados estratégicos, incluindo influenciadores, bartenders e formadores de opinião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a concepção da ideia criativa até a coordenação de produção, garantindo uma entrega alinhada à narrativa da série e à sofisticação do produto.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FHmV5oAGMF/?img_index=1"/>
                </a:rPr>
                <a:t>Ver no Instagram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47990" y="7932710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255" y="1956542"/>
            <a:ext cx="16755045" cy="8097301"/>
            <a:chOff x="0" y="0"/>
            <a:chExt cx="22340060" cy="107964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40060" cy="10796401"/>
            </a:xfrm>
            <a:custGeom>
              <a:avLst/>
              <a:gdLst/>
              <a:ahLst/>
              <a:cxnLst/>
              <a:rect r="r" b="b" t="t" l="l"/>
              <a:pathLst>
                <a:path h="10796401" w="22340060">
                  <a:moveTo>
                    <a:pt x="0" y="0"/>
                  </a:moveTo>
                  <a:lnTo>
                    <a:pt x="22340060" y="0"/>
                  </a:lnTo>
                  <a:lnTo>
                    <a:pt x="22340060" y="10796401"/>
                  </a:lnTo>
                  <a:lnTo>
                    <a:pt x="0" y="107964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40060" cy="107964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 – EXPERIÊNCIA IMERSIVA “KEEP WALKING" NO SUBASTOR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(Johnnie Walker)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735"/>
                </a:lnSpc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 reforçar o posicionamento de Johnnie Walker como uma marca sofisticada, moderna e conectada com experiências de consumo premium, desenvolvemos uma experiência imersiva em parceria com o bar SubAstor, em São Paulo.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proposta foi criar um espaço exclusivo e multisensorial dentro do bar, dedicado ao universo de Johnnie Walker — com ambientação assinada, carta de drinks autorais, performances e ativações que envolviam os cinco sentidos.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do projeto: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Espaço personalizado Johnnie Walker com identidade visual própria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Drinks exclusivos desenvolvidos por bartenders parceiros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Cenografia elegante e sensorial, com estímulos de luz, som e aroma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Integração com a campanha global Keep Walking adaptada ao lifestyle local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Alto engajamento orgânico nas redes sociais com influenciadores e formadores de opinião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do projeto desde a concepção até a ativação, liderando o planejamento, aprovação, execução e entrega do projeto com excelência e total alinhamento com os valores da marca.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DOuTd7gbzq/?img_index=1"/>
                </a:rPr>
                <a:t>Ver no Instagram</a:t>
              </a:r>
            </a:p>
            <a:p>
              <a:pPr algn="l" marL="421671" indent="-140557" lvl="2">
                <a:lnSpc>
                  <a:spcPts val="27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47990" y="7932710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17054"/>
            <a:ext cx="16590579" cy="8098752"/>
            <a:chOff x="0" y="0"/>
            <a:chExt cx="22120772" cy="10798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0772" cy="10798336"/>
            </a:xfrm>
            <a:custGeom>
              <a:avLst/>
              <a:gdLst/>
              <a:ahLst/>
              <a:cxnLst/>
              <a:rect r="r" b="b" t="t" l="l"/>
              <a:pathLst>
                <a:path h="10798336" w="22120772">
                  <a:moveTo>
                    <a:pt x="0" y="0"/>
                  </a:moveTo>
                  <a:lnTo>
                    <a:pt x="22120772" y="0"/>
                  </a:lnTo>
                  <a:lnTo>
                    <a:pt x="22120772" y="10798336"/>
                  </a:lnTo>
                  <a:lnTo>
                    <a:pt x="0" y="10798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20772" cy="107983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855"/>
                </a:lnSpc>
              </a:pPr>
              <a:r>
                <a:rPr lang="en-US" sz="23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 – KEEP WALKING BRASIL</a:t>
              </a:r>
            </a:p>
            <a:p>
              <a:pPr algn="l">
                <a:lnSpc>
                  <a:spcPts val="2855"/>
                </a:lnSpc>
              </a:pPr>
              <a:r>
                <a:rPr lang="en-US" sz="23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(Johnnie Walker)</a:t>
              </a:r>
            </a:p>
            <a:p>
              <a:pPr algn="l">
                <a:lnSpc>
                  <a:spcPts val="2855"/>
                </a:lnSpc>
              </a:pPr>
              <a:r>
                <a:rPr lang="en-US" sz="23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</a:t>
              </a:r>
            </a:p>
            <a:p>
              <a:pPr algn="l">
                <a:lnSpc>
                  <a:spcPts val="2855"/>
                </a:lnSpc>
              </a:pPr>
              <a:r>
                <a:rPr lang="en-US" sz="23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855"/>
                </a:lnSpc>
              </a:pPr>
              <a:r>
                <a:rPr lang="en-US" sz="23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855"/>
                </a:lnSpc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2020, lideramos a campanha Keep Walking Brasil, uma iniciativa que reforçou o posicionamento da marca Johnnie Walker no país. A campanha buscou inspirar os brasileiros a continuarem avançando, mesmo diante dos desafios, alinhando-se ao espírito resiliente e otimista da marca.​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do projeto: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Mensagem Inspiradora: A campanha transmitiu uma mensagem de perseverança e progresso, incentivando os consumidores a "continuar caminhando" em busca de seus objetivos.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Presença Digital: Utilização estratégica das redes sociais para amplificar o alcance da campanha e engajar o público-alvo.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Alinhamento Global: A campanha brasileira fez parte da estratégia global da marca, adaptando a mensagem "Keep Walking" ao contexto local.​</a:t>
              </a:r>
              <a:r>
                <a:rPr lang="en-US" sz="23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diageo.com/en/news-and-media/stories/2021/johnnie-walker-launches-new-keep-walking-campaign-to-get-the-world-moving-again?utm_source=chatgpt.com"/>
                </a:rPr>
                <a:t>media.diageo.com+3diageo.com+3Adweek+3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o planejamento até a execução, coordenando as equipes envolvidas e garantindo que a campanha refletisse os valores e a identidade da marca Johnnie Walker.​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 marL="440171" indent="-146724" lvl="2">
                <a:lnSpc>
                  <a:spcPts val="2855"/>
                </a:lnSpc>
                <a:buFont typeface="Arial"/>
                <a:buChar char="⚬"/>
              </a:pPr>
              <a:r>
                <a:rPr lang="en-US" sz="23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https://www.instagram.com/p/CDOuTd7gbzq/?img_index=1</a:t>
              </a:r>
            </a:p>
            <a:p>
              <a:pPr algn="l" marL="440171" indent="-146724" lvl="2">
                <a:lnSpc>
                  <a:spcPts val="28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47990" y="7932710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2457" y="2057396"/>
            <a:ext cx="16926822" cy="8682247"/>
            <a:chOff x="0" y="0"/>
            <a:chExt cx="22569096" cy="11576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9097" cy="11576329"/>
            </a:xfrm>
            <a:custGeom>
              <a:avLst/>
              <a:gdLst/>
              <a:ahLst/>
              <a:cxnLst/>
              <a:rect r="r" b="b" t="t" l="l"/>
              <a:pathLst>
                <a:path h="11576329" w="22569097">
                  <a:moveTo>
                    <a:pt x="0" y="0"/>
                  </a:moveTo>
                  <a:lnTo>
                    <a:pt x="22569097" y="0"/>
                  </a:lnTo>
                  <a:lnTo>
                    <a:pt x="22569097" y="11576329"/>
                  </a:lnTo>
                  <a:lnTo>
                    <a:pt x="0" y="115763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569096" cy="11576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b="true" sz="227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2" tooltip="https://www.instagram.com/p/CDOuTd7gbzq/?img_index=1"/>
                </a:rPr>
                <a:t>PROJETO: 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DOuTd7gbzq/?img_index=1"/>
                </a:rPr>
                <a:t>JOHNNIE WALKER – KEEP WALKING NA TOKYO SP</a:t>
              </a:r>
            </a:p>
            <a:p>
              <a:pPr algn="l">
                <a:lnSpc>
                  <a:spcPts val="2735"/>
                </a:lnSpc>
              </a:pPr>
              <a:r>
                <a:rPr lang="en-US" b="true" sz="227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4" tooltip="https://www.instagram.com/p/CDOuTd7gbzq/?img_index=1"/>
                </a:rPr>
                <a:t>CLIENTE: 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instagram.com/p/CDOuTd7gbzq/?img_index=1"/>
                </a:rPr>
                <a:t>Diageo (Johnnie Walker)</a:t>
              </a:r>
            </a:p>
            <a:p>
              <a:pPr algn="l">
                <a:lnSpc>
                  <a:spcPts val="2735"/>
                </a:lnSpc>
              </a:pPr>
              <a:r>
                <a:rPr lang="en-US" sz="22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</a:t>
              </a:r>
              <a:r>
                <a:rPr lang="en-US" sz="22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lang="en-US" b="true" sz="227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6" tooltip="https://www.instagram.com/p/CDOuTd7gbzq/?img_index=1"/>
                </a:rPr>
                <a:t> 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7" tooltip="https://www.instagram.com/p/CDOuTd7gbzq/?img_index=1"/>
                </a:rPr>
                <a:t>2020</a:t>
              </a:r>
            </a:p>
            <a:p>
              <a:pPr algn="l">
                <a:lnSpc>
                  <a:spcPts val="2735"/>
                </a:lnSpc>
              </a:pPr>
              <a:r>
                <a:rPr lang="en-US" b="true" sz="227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8" tooltip="https://www.instagram.com/p/CDOuTd7gbzq/?img_index=1"/>
                </a:rPr>
                <a:t>PAPEL: </a:t>
              </a: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9" tooltip="https://www.instagram.com/p/CDOuTd7gbzq/?img_index=1"/>
                </a:rPr>
                <a:t>Account Manager</a:t>
              </a:r>
            </a:p>
            <a:p>
              <a:pPr algn="l">
                <a:lnSpc>
                  <a:spcPts val="2735"/>
                </a:lnSpc>
              </a:pPr>
              <a:r>
                <a:rPr lang="en-US" b="true" sz="2279" u="sng">
                  <a:solidFill>
                    <a:srgbClr val="0000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10" tooltip="https://www.instagram.com/p/CDOuTd7gbzq/?img_index=1"/>
                </a:rPr>
                <a:t>DESCRIÇÃO:</a:t>
              </a:r>
            </a:p>
            <a:p>
              <a:pPr algn="l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1" tooltip="https://www.instagram.com/p/CDOuTd7gbzq/?img_index=1"/>
                </a:rPr>
                <a:t>Em 2020, lideramos a ativação de Johnnie Walker na icônica balada Tokyo, em São Paulo, como parte da campanha Keep Walking Brasil. A iniciativa teve como objetivo reforçar o posicionamento da marca no cenário urbano, conectando-se com um público jovem, criativo e culturalmente ativo.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2" tooltip="https://www.instagram.com/p/CDOuTd7gbzq/?img_index=1"/>
                </a:rPr>
                <a:t>DESTAQUES DO PROJETO: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3" tooltip="https://www.instagram.com/p/CDOuTd7gbzq/?img_index=1"/>
                </a:rPr>
                <a:t>CAMPANHA 360º EM AMBIENTE NOTURNO:</a:t>
              </a:r>
            </a:p>
            <a:p>
              <a:pPr algn="l" marL="421671" indent="-140557" lvl="2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4" tooltip="https://www.instagram.com/p/CDOuTd7gbzq/?img_index=1"/>
                </a:rPr>
                <a:t>Criação de uma experiência sensorial que ocupou a balada com intervenções visuais, coquetelaria exclusiva, projeções, conteúdos de marca e interação com influenciadores.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5" tooltip="https://www.instagram.com/p/CDOuTd7gbzq/?img_index=1"/>
                </a:rPr>
                <a:t>INTEGRAÇÃO COM A CENA NOTURNA DE SÃO PAULO:</a:t>
              </a:r>
            </a:p>
            <a:p>
              <a:pPr algn="l" marL="421671" indent="-140557" lvl="2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6" tooltip="https://www.instagram.com/p/CDOuTd7gbzq/?img_index=1"/>
                </a:rPr>
                <a:t>A escolha da Tokyo, localizada no centro da cidade, reforçou a conexão da marca com a vida urbana e o espírito cosmopolita do “seguir em frente”.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7" tooltip="https://www.instagram.com/p/CDOuTd7gbzq/?img_index=1"/>
                </a:rPr>
                <a:t>CONCEITO GLOBAL ADAPTADO AO LIFESTYLE LOCAL:</a:t>
              </a:r>
            </a:p>
            <a:p>
              <a:pPr algn="l" marL="421671" indent="-140557" lvl="2">
                <a:lnSpc>
                  <a:spcPts val="2735"/>
                </a:lnSpc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8" tooltip="https://www.instagram.com/p/CDOuTd7gbzq/?img_index=1"/>
                </a:rPr>
                <a:t>A campanha global Keep Walking ganhou contornos brasileiros e contemporâneos, promovendo uma noite de celebração à liberdade de expressão, criatividade e movimento.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9" tooltip="https://www.instagram.com/p/CDOuTd7gbzq/?img_index=1"/>
                </a:rPr>
                <a:t>Assumi a liderança do projeto desde o planejamento até a execução final, coordenando times de produção, conteúdo, relacionamento com influenciadores e aprovação do cliente, garantindo uma entrega impactante e alinhada ao branding da marca.</a:t>
              </a:r>
            </a:p>
            <a:p>
              <a:pPr algn="l" marL="421671" indent="-140557" lvl="2">
                <a:lnSpc>
                  <a:spcPts val="2735"/>
                </a:lnSpc>
                <a:buFont typeface="Arial"/>
                <a:buChar char="⚬"/>
              </a:pPr>
              <a:r>
                <a:rPr lang="en-US" sz="22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0" tooltip="https://www.instagram.com/p/CDOuTd7gbzq/?img_index=1"/>
                </a:rPr>
                <a:t>🔗 Ver no Instagram</a:t>
              </a:r>
            </a:p>
            <a:p>
              <a:pPr algn="l" marL="421671" indent="-140557" lvl="2">
                <a:lnSpc>
                  <a:spcPts val="27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38465" y="7932710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422" y="1375224"/>
            <a:ext cx="17582231" cy="8663472"/>
            <a:chOff x="0" y="0"/>
            <a:chExt cx="23442975" cy="11551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42975" cy="11551296"/>
            </a:xfrm>
            <a:custGeom>
              <a:avLst/>
              <a:gdLst/>
              <a:ahLst/>
              <a:cxnLst/>
              <a:rect r="r" b="b" t="t" l="l"/>
              <a:pathLst>
                <a:path h="11551296" w="23442975">
                  <a:moveTo>
                    <a:pt x="0" y="0"/>
                  </a:moveTo>
                  <a:lnTo>
                    <a:pt x="23442975" y="0"/>
                  </a:lnTo>
                  <a:lnTo>
                    <a:pt x="23442975" y="11551296"/>
                  </a:lnTo>
                  <a:lnTo>
                    <a:pt x="0" y="1155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442975" cy="115512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Ativações Johnnie Walker e Tanqueray no Rock in Rio 2019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(Tanqueray e Johnnie Walker)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Durante o período em que atuei no Grupo UMAUMA, fui responsável pela coordenação das ativações das marcas Johnnie Walker e Tanqueray no Rock in Rio, um dos maiores festivais de música do mundo. A proposta era proporcionar experiências imersivas que traduzissem o posicionamento premium das marcas, em meio a um ambiente de alta visibilidade e conexão cultural.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Johnnie Walker – O Caminho do Progresso: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de um estande icônico inspirado na jornada da marca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Experiência sensorial com storytelling envolvente e degustações guiadas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Interações digitais e ativações de marca com foco em propósito, lifestyle e sustentabilidade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Produção de conteúdos exclusivos para redes sociais e cobertura de imprensa</a:t>
              </a:r>
            </a:p>
            <a:p>
              <a:pPr algn="l" marL="457201" indent="-152400" lvl="2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Tanqueray – Coquetelaria &amp; Elegância: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Espaço inspirado na estética botânica da marca, com atmosfera sofisticada e vibrante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Bar exclusivo com coquetéis autorais assinados por bartenders renomados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Programação especial com DJs e convidados influentes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de ambientes instagramáveis e experiências que uniram moda, sabor e atitude</a:t>
              </a:r>
            </a:p>
            <a:p>
              <a:pPr algn="l" marL="457201" indent="-152400" lvl="2">
                <a:lnSpc>
                  <a:spcPts val="2400"/>
                </a:lnSpc>
              </a:pPr>
            </a:p>
            <a:p>
              <a:pPr algn="l" marL="457201" indent="-152400" lvl="2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Minha atuação:</a:t>
              </a:r>
            </a:p>
            <a:p>
              <a:pPr algn="l" marL="457201" indent="-152400" lvl="2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Liderei a integração das frentes criativa, logística e de produção, cuidando de todos os detalhes — do planejamento à execução onsite. Garanti a entrega de experiências impactantes, alinhadas ao brandbook das marcas e ao perfil do público do festival. As ativações geraram forte repercussão nas redes sociais e na imprensa, ampliando o awareness das marcas com autenticidade e estilo.</a:t>
              </a: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1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198906" y="7973052"/>
            <a:ext cx="4089094" cy="4089094"/>
            <a:chOff x="0" y="0"/>
            <a:chExt cx="5452125" cy="545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95943" y="8935579"/>
            <a:ext cx="2502964" cy="1407917"/>
            <a:chOff x="0" y="0"/>
            <a:chExt cx="3337285" cy="1877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37306" cy="1877187"/>
            </a:xfrm>
            <a:custGeom>
              <a:avLst/>
              <a:gdLst/>
              <a:ahLst/>
              <a:cxnLst/>
              <a:rect r="r" b="b" t="t" l="l"/>
              <a:pathLst>
                <a:path h="1877187" w="3337306">
                  <a:moveTo>
                    <a:pt x="0" y="0"/>
                  </a:moveTo>
                  <a:lnTo>
                    <a:pt x="3337306" y="0"/>
                  </a:lnTo>
                  <a:lnTo>
                    <a:pt x="3337306" y="1877187"/>
                  </a:lnTo>
                  <a:lnTo>
                    <a:pt x="0" y="1877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422" y="1375224"/>
            <a:ext cx="17582231" cy="7892811"/>
            <a:chOff x="0" y="0"/>
            <a:chExt cx="23442975" cy="10523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42975" cy="10523748"/>
            </a:xfrm>
            <a:custGeom>
              <a:avLst/>
              <a:gdLst/>
              <a:ahLst/>
              <a:cxnLst/>
              <a:rect r="r" b="b" t="t" l="l"/>
              <a:pathLst>
                <a:path h="10523748" w="23442975">
                  <a:moveTo>
                    <a:pt x="0" y="0"/>
                  </a:moveTo>
                  <a:lnTo>
                    <a:pt x="23442975" y="0"/>
                  </a:lnTo>
                  <a:lnTo>
                    <a:pt x="23442975" y="10523748"/>
                  </a:lnTo>
                  <a:lnTo>
                    <a:pt x="0" y="105237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442975" cy="105237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Ativações Johnnie Walker e Tanqueray no Rock in Rio 2019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(Tanqueray e Johnnie Walker)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Para visualizar imagens dessas ativações, você pode acessar os seguintes links:​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Tanqueray no Rock in Rio 2019: </a:t>
              </a:r>
              <a:r>
                <a:rPr lang="en-US" sz="20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behance.net/gallery/98186889/Diageo-Tanqueray-Rock-in-Rio-2019"/>
                </a:rPr>
                <a:t>Behance – Diageo Tanqueray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</a:p>
            <a:p>
              <a:pPr algn="l" marL="457201" indent="-152400" lvl="2">
                <a:lnSpc>
                  <a:spcPts val="2400"/>
                </a:lnSpc>
                <a:buFont typeface="Arial"/>
                <a:buChar char="⚬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 no Rock in Rio 2019: </a:t>
              </a:r>
              <a:r>
                <a:rPr lang="en-US" sz="20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behance.net/gallery/98186699/Johnny-Walker-Tanqueray-Rock-and-Rio-2019"/>
                </a:rPr>
                <a:t>Behance – Johnny Walker / Tanqueray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</a:p>
            <a:p>
              <a:pPr algn="l" marL="457201" indent="-152400" lvl="2">
                <a:lnSpc>
                  <a:spcPts val="2400"/>
                </a:lnSpc>
              </a:pPr>
            </a:p>
            <a:p>
              <a:pPr algn="l" marL="457201" indent="-152400" lvl="2">
                <a:lnSpc>
                  <a:spcPts val="2400"/>
                </a:lnSpc>
              </a:pPr>
            </a:p>
            <a:p>
              <a:pPr algn="l" marL="457201" indent="-152400" lvl="2">
                <a:lnSpc>
                  <a:spcPts val="2400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016"/>
                </a:lnSpc>
              </a:pPr>
            </a:p>
            <a:p>
              <a:pPr algn="l" marL="457201" indent="-152400" lvl="2">
                <a:lnSpc>
                  <a:spcPts val="21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5447" y="4077940"/>
            <a:ext cx="12102719" cy="3156095"/>
            <a:chOff x="0" y="0"/>
            <a:chExt cx="16136959" cy="4208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37001" cy="4208145"/>
            </a:xfrm>
            <a:custGeom>
              <a:avLst/>
              <a:gdLst/>
              <a:ahLst/>
              <a:cxnLst/>
              <a:rect r="r" b="b" t="t" l="l"/>
              <a:pathLst>
                <a:path h="4208145" w="16137001">
                  <a:moveTo>
                    <a:pt x="0" y="0"/>
                  </a:moveTo>
                  <a:lnTo>
                    <a:pt x="16137001" y="0"/>
                  </a:lnTo>
                  <a:lnTo>
                    <a:pt x="16137001" y="4208145"/>
                  </a:lnTo>
                  <a:lnTo>
                    <a:pt x="0" y="4208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8" t="0" r="-72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08762" y="7137680"/>
            <a:ext cx="12479238" cy="3149320"/>
            <a:chOff x="0" y="0"/>
            <a:chExt cx="16638984" cy="41990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39032" cy="4199128"/>
            </a:xfrm>
            <a:custGeom>
              <a:avLst/>
              <a:gdLst/>
              <a:ahLst/>
              <a:cxnLst/>
              <a:rect r="r" b="b" t="t" l="l"/>
              <a:pathLst>
                <a:path h="4199128" w="16639032">
                  <a:moveTo>
                    <a:pt x="0" y="0"/>
                  </a:moveTo>
                  <a:lnTo>
                    <a:pt x="16639032" y="0"/>
                  </a:lnTo>
                  <a:lnTo>
                    <a:pt x="16639032" y="4199128"/>
                  </a:lnTo>
                  <a:lnTo>
                    <a:pt x="0" y="4199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2" r="0" b="-361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646" y="1528629"/>
            <a:ext cx="17556308" cy="8448627"/>
            <a:chOff x="0" y="0"/>
            <a:chExt cx="23408411" cy="11264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08411" cy="11264836"/>
            </a:xfrm>
            <a:custGeom>
              <a:avLst/>
              <a:gdLst/>
              <a:ahLst/>
              <a:cxnLst/>
              <a:rect r="r" b="b" t="t" l="l"/>
              <a:pathLst>
                <a:path h="11264836" w="23408411">
                  <a:moveTo>
                    <a:pt x="0" y="0"/>
                  </a:moveTo>
                  <a:lnTo>
                    <a:pt x="23408411" y="0"/>
                  </a:lnTo>
                  <a:lnTo>
                    <a:pt x="23408411" y="11264836"/>
                  </a:lnTo>
                  <a:lnTo>
                    <a:pt x="0" y="112648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408411" cy="112648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TASTE FESTIVAL SÃO PAULO</a:t>
              </a:r>
            </a:p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(Johnnie Walker, Ketel One e Tanqueray)</a:t>
              </a:r>
            </a:p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</a:t>
              </a:r>
            </a:p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015"/>
                </a:lnSpc>
              </a:pPr>
            </a:p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2020, liderei a ativação das marcas Ketel One, Tanqueray e Johnnie Walker no Taste Festival São Paulo, um dos maiores e mais prestigiados eventos gastronômicos do país. A iniciativa teve como objetivo reforçar o posicionamento premium da Diageo, promovendo experiências sensoriais sofisticadas e conectando as marcas a um público apaixonado por coquetelaria, gastronomia e lifestyle.</a:t>
              </a:r>
            </a:p>
            <a:p>
              <a:pPr algn="l">
                <a:lnSpc>
                  <a:spcPts val="2015"/>
                </a:lnSpc>
              </a:pPr>
            </a:p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✨ </a:t>
              </a:r>
              <a:r>
                <a:rPr lang="en-US" sz="167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Lounge Ketel One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de um espaço exclusivo e sofisticado, com ambientação inspirada na estética da marca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Experiência imersiva e instagramável, gerando alto engajamento orgânico nas redes sociais</a:t>
              </a:r>
            </a:p>
            <a:p>
              <a:pPr algn="l" marL="384049" indent="-128016" lvl="2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🍹 Coquetelaria de excelência (Ketel One e Tanqueray)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Parcerias com bartenders renomados do circuito paulista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Drinks autorais que ressaltavam a versatilidade e qualidade dos produtos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Ativações com foco em mixologia contemporânea</a:t>
              </a:r>
            </a:p>
            <a:p>
              <a:pPr algn="l" marL="384049" indent="-128016" lvl="2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Experiência Johnnie Walker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Degustações guiadas e harmonizações com pratos selecionados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Narrativas sobre a tradição e inovação da marca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Apresentação do portfólio para um público de alto poder aquisitivo</a:t>
              </a:r>
            </a:p>
            <a:p>
              <a:pPr algn="l" marL="384049" indent="-128016" lvl="2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Interações criativas e branding experiencial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Workshops de mixologia e bate-papos com especialistas</a:t>
              </a:r>
            </a:p>
            <a:p>
              <a:pPr algn="l" marL="384049" indent="-128016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Espaços fotográficos e ações interativas com foco em branding e conversão digital</a:t>
              </a:r>
            </a:p>
            <a:p>
              <a:pPr algn="l" marL="384049" indent="-128016" lvl="2">
                <a:lnSpc>
                  <a:spcPts val="2015"/>
                </a:lnSpc>
              </a:pPr>
            </a:p>
            <a:p>
              <a:pPr algn="l" marL="384049" indent="-128016" lvl="2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</a:t>
              </a:r>
              <a:r>
                <a:rPr lang="en-US" b="true" sz="167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Minha atuação:</a:t>
              </a:r>
            </a:p>
            <a:p>
              <a:pPr algn="l" marL="384049" indent="-128016" lvl="2">
                <a:lnSpc>
                  <a:spcPts val="2015"/>
                </a:lnSpc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Como Account Manager, fui responsável por toda a jornada do projeto — do planejamento estratégico à execução no evento, coordenando múltiplos fornecedores, criando sinergia entre as marcas do portfólio Diageo e garantindo que cada detalhe da ativação refletisse a sofisticação, o propósito e a identidade de cada marca.</a:t>
              </a:r>
            </a:p>
            <a:p>
              <a:pPr algn="l" marL="384049" indent="-128016" lvl="2">
                <a:lnSpc>
                  <a:spcPts val="1055"/>
                </a:lnSpc>
              </a:pPr>
            </a:p>
            <a:p>
              <a:pPr algn="l" marL="310795" indent="-103598" lvl="2">
                <a:lnSpc>
                  <a:spcPts val="2015"/>
                </a:lnSpc>
                <a:buFont typeface="Arial"/>
                <a:buChar char="⚬"/>
              </a:pP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 marL="310760" indent="-103587" lvl="2">
                <a:lnSpc>
                  <a:spcPts val="2015"/>
                </a:lnSpc>
                <a:buFont typeface="Arial"/>
                <a:buChar char="⚬"/>
              </a:pPr>
              <a:r>
                <a:rPr lang="en-US" sz="167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DbmMm0AGvO/?img_index=1"/>
                </a:rPr>
                <a:t>Post da campanha </a:t>
              </a:r>
              <a:r>
                <a:rPr lang="en-US" sz="167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post 1</a:t>
              </a:r>
            </a:p>
            <a:p>
              <a:pPr algn="l" marL="329257" indent="-109752" lvl="2">
                <a:lnSpc>
                  <a:spcPts val="2136"/>
                </a:lnSpc>
                <a:buFont typeface="Arial"/>
                <a:buChar char="⚬"/>
              </a:pPr>
              <a:r>
                <a:rPr lang="en-US" sz="178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Post da campanha 2 </a:t>
              </a:r>
              <a:r>
                <a:rPr lang="en-US" sz="178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post 2</a:t>
              </a:r>
            </a:p>
            <a:p>
              <a:pPr algn="l" marL="310759" indent="-103586" lvl="2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21021" y="8261264"/>
            <a:ext cx="5434508" cy="3043325"/>
            <a:chOff x="0" y="0"/>
            <a:chExt cx="7246011" cy="4057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5985" cy="4057777"/>
            </a:xfrm>
            <a:custGeom>
              <a:avLst/>
              <a:gdLst/>
              <a:ahLst/>
              <a:cxnLst/>
              <a:rect r="r" b="b" t="t" l="l"/>
              <a:pathLst>
                <a:path h="4057777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4057777"/>
                  </a:lnTo>
                  <a:lnTo>
                    <a:pt x="0" y="405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1200" y="7932710"/>
            <a:ext cx="4089094" cy="4089094"/>
            <a:chOff x="0" y="0"/>
            <a:chExt cx="5452125" cy="5452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52110" cy="5452110"/>
            </a:xfrm>
            <a:custGeom>
              <a:avLst/>
              <a:gdLst/>
              <a:ahLst/>
              <a:cxnLst/>
              <a:rect r="r" b="b" t="t" l="l"/>
              <a:pathLst>
                <a:path h="545211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5452110"/>
                  </a:lnTo>
                  <a:lnTo>
                    <a:pt x="0" y="54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38236" y="8988826"/>
            <a:ext cx="2502964" cy="1407917"/>
            <a:chOff x="0" y="0"/>
            <a:chExt cx="3337285" cy="18772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37306" cy="1877187"/>
            </a:xfrm>
            <a:custGeom>
              <a:avLst/>
              <a:gdLst/>
              <a:ahLst/>
              <a:cxnLst/>
              <a:rect r="r" b="b" t="t" l="l"/>
              <a:pathLst>
                <a:path h="1877187" w="3337306">
                  <a:moveTo>
                    <a:pt x="0" y="0"/>
                  </a:moveTo>
                  <a:lnTo>
                    <a:pt x="3337306" y="0"/>
                  </a:lnTo>
                  <a:lnTo>
                    <a:pt x="3337306" y="1877187"/>
                  </a:lnTo>
                  <a:lnTo>
                    <a:pt x="0" y="1877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5895" y="1884187"/>
            <a:ext cx="16856210" cy="8643960"/>
            <a:chOff x="0" y="0"/>
            <a:chExt cx="22474947" cy="11525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74948" cy="11525280"/>
            </a:xfrm>
            <a:custGeom>
              <a:avLst/>
              <a:gdLst/>
              <a:ahLst/>
              <a:cxnLst/>
              <a:rect r="r" b="b" t="t" l="l"/>
              <a:pathLst>
                <a:path h="11525280" w="22474948">
                  <a:moveTo>
                    <a:pt x="0" y="0"/>
                  </a:moveTo>
                  <a:lnTo>
                    <a:pt x="22474948" y="0"/>
                  </a:lnTo>
                  <a:lnTo>
                    <a:pt x="22474948" y="11525280"/>
                  </a:lnTo>
                  <a:lnTo>
                    <a:pt x="0" y="11525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74947" cy="1152528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OLD PARR – ATIVAÇÃO NA PECUÁRIA DE GOIÂNIA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(Old Parr)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2019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Account Manager​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Como parte do circuito de ativações regionais da marca, estivemos presentes na Pecuária de Goiânia, um dos principais eventos do agronegócio no Brasil. A proposta foi fortalecer a presença da Old Parr no mercado goiano, conectando-se com o público local por meio de ações de visibilidade e relacionamento</a:t>
              </a: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.​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502920" indent="-167640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Camionete personalizada da marca, circulando pelo evento e bares parceiros para promover ações de troca de brindes e gerar aproximação com o consumidor</a:t>
              </a:r>
            </a:p>
            <a:p>
              <a:pPr algn="l" marL="502920" indent="-167640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Degustações e experiências dirigidas, reforçando o posicionamento de Old Parr como whisky de tradição e presença marcante</a:t>
              </a:r>
            </a:p>
            <a:p>
              <a:pPr algn="l" marL="502920" indent="-167640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Engajamento local, com linguagem visual e abordagem pensadas para se conectar ao público da região de forma autêntica​</a:t>
              </a:r>
            </a:p>
            <a:p>
              <a:pPr algn="l" marL="502920" indent="-167640" lvl="2">
                <a:lnSpc>
                  <a:spcPts val="2640"/>
                </a:lnSpc>
              </a:pPr>
            </a:p>
            <a:p>
              <a:pPr algn="l" marL="502920" indent="-167640" lvl="2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Liderei o projeto desde a estratégia de entrada no evento até a execução operacional, garantindo que a ativação estivesse alinhada com os objetivos de visibilidade, experimentação e fidelização de marca no território goiano.​</a:t>
              </a:r>
            </a:p>
            <a:p>
              <a:pPr algn="l" marL="502920" indent="-167640" lvl="2">
                <a:lnSpc>
                  <a:spcPts val="2640"/>
                </a:lnSpc>
              </a:pPr>
            </a:p>
            <a:p>
              <a:pPr algn="l" marL="502920" indent="-167640" lvl="2">
                <a:lnSpc>
                  <a:spcPts val="2640"/>
                </a:lnSpc>
              </a:pPr>
              <a:r>
                <a:rPr lang="en-US" sz="220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 marL="502920" indent="-167640" lvl="2">
                <a:lnSpc>
                  <a:spcPts val="2640"/>
                </a:lnSpc>
              </a:pPr>
              <a:r>
                <a:rPr lang="en-US" sz="22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FaSMuegnWw/?img_index=1"/>
                </a:rPr>
                <a:t>Post do evento </a:t>
              </a:r>
              <a:r>
                <a:rPr lang="en-US" sz="220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post 1</a:t>
              </a:r>
            </a:p>
            <a:p>
              <a:pPr algn="l" marL="502920" indent="-167640" lvl="2">
                <a:lnSpc>
                  <a:spcPts val="2640"/>
                </a:lnSpc>
              </a:pPr>
              <a:r>
                <a:rPr lang="en-US" sz="220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Post do evento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2</a:t>
              </a:r>
            </a:p>
            <a:p>
              <a:pPr algn="l" marL="502920" indent="-167640" lvl="2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99966" y="8853852"/>
            <a:ext cx="1888034" cy="1888034"/>
            <a:chOff x="0" y="0"/>
            <a:chExt cx="2517379" cy="2517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7394" cy="2517394"/>
            </a:xfrm>
            <a:custGeom>
              <a:avLst/>
              <a:gdLst/>
              <a:ahLst/>
              <a:cxnLst/>
              <a:rect r="r" b="b" t="t" l="l"/>
              <a:pathLst>
                <a:path h="2517394" w="2517394">
                  <a:moveTo>
                    <a:pt x="0" y="0"/>
                  </a:moveTo>
                  <a:lnTo>
                    <a:pt x="2517394" y="0"/>
                  </a:lnTo>
                  <a:lnTo>
                    <a:pt x="2517394" y="2517394"/>
                  </a:lnTo>
                  <a:lnTo>
                    <a:pt x="0" y="2517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074" y="1667781"/>
            <a:ext cx="17325205" cy="10221443"/>
            <a:chOff x="0" y="0"/>
            <a:chExt cx="23100273" cy="13628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00274" cy="13628591"/>
            </a:xfrm>
            <a:custGeom>
              <a:avLst/>
              <a:gdLst/>
              <a:ahLst/>
              <a:cxnLst/>
              <a:rect r="r" b="b" t="t" l="l"/>
              <a:pathLst>
                <a:path h="13628591" w="23100274">
                  <a:moveTo>
                    <a:pt x="0" y="0"/>
                  </a:moveTo>
                  <a:lnTo>
                    <a:pt x="23100274" y="0"/>
                  </a:lnTo>
                  <a:lnTo>
                    <a:pt x="23100274" y="13628591"/>
                  </a:lnTo>
                  <a:lnTo>
                    <a:pt x="0" y="136285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100273" cy="1362859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– ESTANDE EXCLUSIVO NO BCB BRASIL 2019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2019, aconteceu a primeira edição do BCB (Bar Convent Berlin) no Brasil — o maior evento de coquetelaria do mundo — e nós tivemos a missão de criar um espaço exclusivo e impactante para a Diageo.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Nosso desafio foi desenvolver uma área que traduzisse o universo de inovação, excelência e diversidade do portfólio de marcas da empresa, oferecendo uma experiência completa aos bartenders, especialistas e apaixonados por mixologia.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388493" indent="-129498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Ativação de múltiplas marcas: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Incluindo Tanqueray, Johnnie Walker, Ketel One, Ypióca, entre outras — cada uma com drinks autorais e ambientações próprias</a:t>
              </a:r>
            </a:p>
            <a:p>
              <a:pPr algn="l" marL="388493" indent="-129498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🧊 Bar interativo e sensorial: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Criado para proporcionar experimentação de drinks e contato direto com embaixadores de marca</a:t>
              </a:r>
            </a:p>
            <a:p>
              <a:pPr algn="l" marL="388493" indent="-129498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Posicionamento estratégico: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Marca fortalecida entre líderes de opinião do setor, com ações de relacionamento B2B e ativações dirigidas</a:t>
              </a:r>
            </a:p>
            <a:p>
              <a:pPr algn="l" marL="388493" indent="-129498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Experiência educativa: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espaço também foi palco de conteúdos e demonstrações ao vivo, reforçando a expertise da Diageo no segmento de destilados premium</a:t>
              </a: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fM96pwlFal/"/>
                </a:rPr>
                <a:t>Ver no Instagram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1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nstagram.com/p/CfHtk_XlKub/"/>
                </a:rPr>
                <a:t>Ver no Instagram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2</a:t>
              </a:r>
            </a:p>
            <a:p>
              <a:pPr algn="l" marL="388493" indent="-129498" lvl="2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instagram.com/p/CEkSQBMAdA8/?img_index=1"/>
                </a:rPr>
                <a:t>Ver no Instagram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post 3</a:t>
              </a: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520"/>
                </a:lnSpc>
              </a:pPr>
            </a:p>
            <a:p>
              <a:pPr algn="l" marL="388493" indent="-129498" lvl="2">
                <a:lnSpc>
                  <a:spcPts val="2760"/>
                </a:lnSpc>
              </a:pPr>
            </a:p>
            <a:p>
              <a:pPr algn="l" marL="388493" indent="-129498" lvl="2">
                <a:lnSpc>
                  <a:spcPts val="27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37449" y="9601844"/>
            <a:ext cx="1843702" cy="847081"/>
            <a:chOff x="0" y="0"/>
            <a:chExt cx="2458269" cy="11294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459" r="-2" b="-10462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6885" y="1318145"/>
            <a:ext cx="17606630" cy="8968854"/>
            <a:chOff x="0" y="0"/>
            <a:chExt cx="23475507" cy="11958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75507" cy="11958472"/>
            </a:xfrm>
            <a:custGeom>
              <a:avLst/>
              <a:gdLst/>
              <a:ahLst/>
              <a:cxnLst/>
              <a:rect r="r" b="b" t="t" l="l"/>
              <a:pathLst>
                <a:path h="11958472" w="23475507">
                  <a:moveTo>
                    <a:pt x="0" y="0"/>
                  </a:moveTo>
                  <a:lnTo>
                    <a:pt x="23475507" y="0"/>
                  </a:lnTo>
                  <a:lnTo>
                    <a:pt x="23475507" y="11958472"/>
                  </a:lnTo>
                  <a:lnTo>
                    <a:pt x="0" y="119584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475507" cy="119584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Colaboradores da Diageo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Manager​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Organizamos um evento especial em Foz do Iguaçu voltado para os colaboradores da Diageo, com o objetivo de promover engajamento interno, fortalecer o relacionamento entre equipes e proporcionar uma experiência imersiva com o portfólio completo de marcas da empresa.​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proposta foi criar um ambiente de celebração e reconhecimento, com ativações que refletissem o lifestyle de cada marca e incentivassem a experimentação e a conexão emocional entre os funcionários e os produtos que representam.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​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Ativação simultânea de múltiplas marcas: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Tanqueray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Smirnoff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Ypióca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Baileys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Gordon’s​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🥂 Estações de drinks personalizadas, com coquetelaria exclusiva para cada marca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🎉 Cenografia temática, ambientada de forma lúdica e sofisticada para reforçar os atributos de cada produto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Experiência de marca interna: o evento serviu também como uma ferramenta de endomarketing e treinamento leve para reforçar o storytelling de cada rótulo​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do projeto desde o planejamento até a produção e execução, garantindo total alinhamento com os objetivos institucionais da Diageo e a valorização dos times internos.​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>
                <a:lnSpc>
                  <a:spcPts val="2400"/>
                </a:lnSpc>
              </a:pPr>
              <a:r>
                <a:rPr lang="en-US" sz="200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Post do evento</a:t>
              </a:r>
            </a:p>
            <a:p>
              <a:pPr algn="l">
                <a:lnSpc>
                  <a:spcPts val="26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37449" y="9601844"/>
            <a:ext cx="1843702" cy="847081"/>
            <a:chOff x="0" y="0"/>
            <a:chExt cx="2458269" cy="11294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459" r="-2" b="-10462"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100" y="1916200"/>
            <a:ext cx="16230600" cy="8598342"/>
            <a:chOff x="0" y="0"/>
            <a:chExt cx="21640800" cy="11464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11464456"/>
            </a:xfrm>
            <a:custGeom>
              <a:avLst/>
              <a:gdLst/>
              <a:ahLst/>
              <a:cxnLst/>
              <a:rect r="r" b="b" t="t" l="l"/>
              <a:pathLst>
                <a:path h="11464456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1464456"/>
                  </a:lnTo>
                  <a:lnTo>
                    <a:pt x="0" y="11464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640800" cy="114644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83"/>
                </a:lnSpc>
              </a:pPr>
              <a:r>
                <a:rPr lang="en-US" sz="23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3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– SEMANA DA DIVERSIDADE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 </a:t>
              </a:r>
            </a:p>
            <a:p>
              <a:pPr algn="l">
                <a:lnSpc>
                  <a:spcPts val="2542"/>
                </a:lnSpc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Como parte do compromisso contínuo com inclusão e equidade, lideramos a Semana da Diversidade da Diageo, um projeto de endomarketing com foco em sensibilizar, informar e engajar os colaboradores da companhia em torno de pautas fundamentais para o ambiente corporativo contemporâneo.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iniciativa foi realizada dentro da sede da empresa, com intervenções visuais e ações participativas que abordaram temas como: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🟣 Igualdade de gênero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⚫ Racismo estrutural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🌈 Comunidade LGBTQIA+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♿ Inclusão de pessoas com deficiência (PCD)</a:t>
              </a:r>
            </a:p>
            <a:p>
              <a:pPr algn="l" marL="392071" indent="-130690" lvl="2">
                <a:lnSpc>
                  <a:spcPts val="2542"/>
                </a:lnSpc>
              </a:pP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b="true" sz="211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de ambientações temáticas com frases, dados e provocações visuais que estimularam a reflexão e o diálogo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Desenvolvimento de materiais internos e interativos para reforçar o posicionamento da marca como promotora de diversidade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Planejamento e execução de toda a programação semanal com talks, experiências sensoriais e espaços de escuta</a:t>
              </a:r>
            </a:p>
            <a:p>
              <a:pPr algn="l" marL="392026" indent="-130675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Estive à frente da coordenação geral do projeto, desde a proposta estratégica até a ativação final, garantindo alinhamento com os valores globais da Diageo e o engajamento ativo dos colaboradores.</a:t>
              </a:r>
            </a:p>
            <a:p>
              <a:pPr algn="l" marL="392026" indent="-130675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</a:t>
              </a:r>
              <a:r>
                <a:rPr lang="en-US" sz="2119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EAU76WA-ih/?img_index=1"/>
                </a:rPr>
                <a:t>Ver no Instagram</a:t>
              </a:r>
            </a:p>
            <a:p>
              <a:pPr algn="l" marL="392026" indent="-130675" lvl="2">
                <a:lnSpc>
                  <a:spcPts val="2542"/>
                </a:lnSpc>
              </a:pPr>
            </a:p>
            <a:p>
              <a:pPr algn="l" marL="392026" indent="-130675" lvl="2">
                <a:lnSpc>
                  <a:spcPts val="2542"/>
                </a:lnSpc>
              </a:pPr>
            </a:p>
            <a:p>
              <a:pPr algn="l" marL="392026" indent="-130675" lvl="2">
                <a:lnSpc>
                  <a:spcPts val="2542"/>
                </a:lnSpc>
              </a:pPr>
            </a:p>
            <a:p>
              <a:pPr algn="l" marL="392026" indent="-130675" lvl="2">
                <a:lnSpc>
                  <a:spcPts val="23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46974" y="9601844"/>
            <a:ext cx="1843702" cy="847081"/>
            <a:chOff x="0" y="0"/>
            <a:chExt cx="2458269" cy="11294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459" r="-2" b="-10462"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2140" y="1875153"/>
            <a:ext cx="16169207" cy="8304511"/>
            <a:chOff x="0" y="0"/>
            <a:chExt cx="21558943" cy="11072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943" cy="11072682"/>
            </a:xfrm>
            <a:custGeom>
              <a:avLst/>
              <a:gdLst/>
              <a:ahLst/>
              <a:cxnLst/>
              <a:rect r="r" b="b" t="t" l="l"/>
              <a:pathLst>
                <a:path h="11072682" w="21558943">
                  <a:moveTo>
                    <a:pt x="0" y="0"/>
                  </a:moveTo>
                  <a:lnTo>
                    <a:pt x="21558943" y="0"/>
                  </a:lnTo>
                  <a:lnTo>
                    <a:pt x="21558943" y="11072682"/>
                  </a:lnTo>
                  <a:lnTo>
                    <a:pt x="0" y="11072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558943" cy="1107268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 – EVENTO SURPRESA PARA EQUIPE DE VENDAS (SP + RJ)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Diageo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Manager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 celebrar e motivar a equipe de vendas da Diageo, realizamos um evento surpresa inesquecível nas cidades de São Paulo e Rio de Janeiro. A ação foi pensada como uma experiência de endomarketing com foco em reconhecimento, engajamento e celebração, reforçando o orgulho de representar marcas icônicas.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DO PROJETO: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🎤 Presença da banda DDP Diretoria, responsável por embalar a noite com um show animado e de alta energia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🍸 Ativação simultânea de diversas marcas do portfólio Diageo: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TANQUERAY SEVILLA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KETEL ONE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JOHNNIE WALKER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🍹 Masterclass especial de coquetelaria, conduzida por especialistas para aproximar o time das marcas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🎉 Experiência surpresa: o evento foi revelado apenas no momento da saída do trabalho, garantindo entusiasmo e surpresa genuína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O evento foi desenvolvido com atenção total à experiência do colaborador, fortalecendo o vínculo interno com as marcas e reforçando o orgulho de pertencer à Diageo.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Assumi a liderança do projeto desde a concepção criativa até a produção e execução em campo, garantindo consistência da marca e impacto emocional positivo.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Referência visual no Instagram:</a:t>
              </a:r>
            </a:p>
            <a:p>
              <a:pPr algn="l">
                <a:lnSpc>
                  <a:spcPts val="2400"/>
                </a:lnSpc>
              </a:pPr>
              <a:r>
                <a:rPr lang="en-US" sz="20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nstagram.com/p/CEUPWtGgdDz/?img_index=1"/>
                </a:rPr>
                <a:t>Post do evento</a:t>
              </a:r>
            </a:p>
            <a:p>
              <a:pPr algn="l">
                <a:lnSpc>
                  <a:spcPts val="2638"/>
                </a:lnSpc>
              </a:pPr>
            </a:p>
            <a:p>
              <a:pPr algn="l">
                <a:lnSpc>
                  <a:spcPts val="26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782" y="306910"/>
            <a:ext cx="17361497" cy="1068314"/>
            <a:chOff x="0" y="0"/>
            <a:chExt cx="23148663" cy="1424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48663" cy="1424419"/>
            </a:xfrm>
            <a:custGeom>
              <a:avLst/>
              <a:gdLst/>
              <a:ahLst/>
              <a:cxnLst/>
              <a:rect r="r" b="b" t="t" l="l"/>
              <a:pathLst>
                <a:path h="1424419" w="23148663">
                  <a:moveTo>
                    <a:pt x="0" y="0"/>
                  </a:moveTo>
                  <a:lnTo>
                    <a:pt x="23148663" y="0"/>
                  </a:lnTo>
                  <a:lnTo>
                    <a:pt x="23148663" y="1424419"/>
                  </a:lnTo>
                  <a:lnTo>
                    <a:pt x="0" y="14244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148663" cy="14148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UMAUMA (DIAGEO) – ACCOUNT MANAGER</a:t>
              </a:r>
            </a:p>
            <a:p>
              <a:pPr algn="ctr">
                <a:lnSpc>
                  <a:spcPts val="3598"/>
                </a:lnSpc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(FEV 2019 – NOV 2020)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37449" y="9601844"/>
            <a:ext cx="1843702" cy="847081"/>
            <a:chOff x="0" y="0"/>
            <a:chExt cx="2458269" cy="11294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8212" cy="1129411"/>
            </a:xfrm>
            <a:custGeom>
              <a:avLst/>
              <a:gdLst/>
              <a:ahLst/>
              <a:cxnLst/>
              <a:rect r="r" b="b" t="t" l="l"/>
              <a:pathLst>
                <a:path h="1129411" w="2458212">
                  <a:moveTo>
                    <a:pt x="0" y="0"/>
                  </a:moveTo>
                  <a:lnTo>
                    <a:pt x="2458212" y="0"/>
                  </a:lnTo>
                  <a:lnTo>
                    <a:pt x="2458212" y="1129411"/>
                  </a:lnTo>
                  <a:lnTo>
                    <a:pt x="0" y="1129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459" r="-2" b="-10462"/>
              </a:stretch>
            </a:blipFill>
          </p:spPr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2301912"/>
            <a:ext cx="12344400" cy="5246730"/>
            <a:chOff x="0" y="0"/>
            <a:chExt cx="16459200" cy="699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6995640"/>
            </a:xfrm>
            <a:custGeom>
              <a:avLst/>
              <a:gdLst/>
              <a:ahLst/>
              <a:cxnLst/>
              <a:rect r="r" b="b" t="t" l="l"/>
              <a:pathLst>
                <a:path h="6995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995640"/>
                  </a:lnTo>
                  <a:lnTo>
                    <a:pt x="0" y="6995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7005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</a:t>
              </a: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0600" y="4614192"/>
            <a:ext cx="6146800" cy="1058616"/>
            <a:chOff x="0" y="0"/>
            <a:chExt cx="8195733" cy="1411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95691" cy="1411478"/>
            </a:xfrm>
            <a:custGeom>
              <a:avLst/>
              <a:gdLst/>
              <a:ahLst/>
              <a:cxnLst/>
              <a:rect r="r" b="b" t="t" l="l"/>
              <a:pathLst>
                <a:path h="1411478" w="8195691">
                  <a:moveTo>
                    <a:pt x="0" y="0"/>
                  </a:moveTo>
                  <a:lnTo>
                    <a:pt x="8195691" y="0"/>
                  </a:lnTo>
                  <a:lnTo>
                    <a:pt x="8195691" y="1411478"/>
                  </a:lnTo>
                  <a:lnTo>
                    <a:pt x="0" y="1411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361869" y="8457119"/>
            <a:ext cx="705931" cy="705931"/>
          </a:xfrm>
          <a:custGeom>
            <a:avLst/>
            <a:gdLst/>
            <a:ahLst/>
            <a:cxnLst/>
            <a:rect r="r" b="b" t="t" l="l"/>
            <a:pathLst>
              <a:path h="705931" w="705931">
                <a:moveTo>
                  <a:pt x="0" y="0"/>
                </a:moveTo>
                <a:lnTo>
                  <a:pt x="705931" y="0"/>
                </a:lnTo>
                <a:lnTo>
                  <a:pt x="705931" y="705931"/>
                </a:lnTo>
                <a:lnTo>
                  <a:pt x="0" y="70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82916" y="8457119"/>
            <a:ext cx="659436" cy="659436"/>
          </a:xfrm>
          <a:custGeom>
            <a:avLst/>
            <a:gdLst/>
            <a:ahLst/>
            <a:cxnLst/>
            <a:rect r="r" b="b" t="t" l="l"/>
            <a:pathLst>
              <a:path h="659436" w="659436">
                <a:moveTo>
                  <a:pt x="0" y="0"/>
                </a:moveTo>
                <a:lnTo>
                  <a:pt x="659436" y="0"/>
                </a:lnTo>
                <a:lnTo>
                  <a:pt x="659436" y="659436"/>
                </a:lnTo>
                <a:lnTo>
                  <a:pt x="0" y="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438" y="2413940"/>
            <a:ext cx="17634723" cy="8180566"/>
            <a:chOff x="0" y="0"/>
            <a:chExt cx="23512964" cy="10907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12965" cy="10907421"/>
            </a:xfrm>
            <a:custGeom>
              <a:avLst/>
              <a:gdLst/>
              <a:ahLst/>
              <a:cxnLst/>
              <a:rect r="r" b="b" t="t" l="l"/>
              <a:pathLst>
                <a:path h="10907421" w="23512965">
                  <a:moveTo>
                    <a:pt x="0" y="0"/>
                  </a:moveTo>
                  <a:lnTo>
                    <a:pt x="23512965" y="0"/>
                  </a:lnTo>
                  <a:lnTo>
                    <a:pt x="23512965" y="10907421"/>
                  </a:lnTo>
                  <a:lnTo>
                    <a:pt x="0" y="1090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512964" cy="1090742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MULTICANAIS OFFLINE &amp; ONLINE - GAME OF THRONES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todas as temporadas da série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Responsável por campanhas de aquisição, retenção e eventos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Atuei de forma estratégica e operacional nas campanhas de Game of Thrones, uma das maiores franquias da HBO, trabalhando lado a lado com as operadoras de Pay TV em ações massivas de aquisição, upgrade e retenção de clientes em todo o Brasil.</a:t>
              </a:r>
            </a:p>
            <a:p>
              <a:pPr algn="l">
                <a:lnSpc>
                  <a:spcPts val="2662"/>
                </a:lnSpc>
              </a:pP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b="true" sz="221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da operação: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📺 Campanhas multicanais de aquisição: desenvolvimento e execução de ações integradas com mais de 10 operadoras nacionais, com presença em mídia offline (TV, rádio, OOH) e digital (display, social media, vídeos).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💬 Campanhas de incentivo para operadores de call center: alcance superior a 60 mil colaboradores, com premiações, conteúdos de produto, trilhas de capacitação e ações gamificadas para fomentar vendas e conhecimento da série.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🌐 Eventos e premières exclusivas: organização e produção de ativações para fãs, parceiros e imprensa — incluindo lançamentos de temporadas, experiências imersivas e ativações promocionais em cinemas, shoppings e arenas.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🎥 Campanhas de lançamento de VOD e streaming: participação ativa na promoção do conteúdo on demand da HBO, com foco em crescimento de base, awareness e engajamento.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Minha atuação envolveu desde o planejamento tático com as áreas internas da HBO até a coordenação com parceiros externos (agências, operadoras, promotores e fornecedores), garantindo entregas robustas e memoráveis para uma das maiores IPs da cultura pop mundial.</a:t>
              </a:r>
            </a:p>
            <a:p>
              <a:pPr algn="l" marL="410570" indent="-136857" lvl="2">
                <a:lnSpc>
                  <a:spcPts val="23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71725" y="8457642"/>
            <a:ext cx="3073313" cy="3073313"/>
            <a:chOff x="0" y="0"/>
            <a:chExt cx="4097751" cy="4097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7782" cy="4097782"/>
            </a:xfrm>
            <a:custGeom>
              <a:avLst/>
              <a:gdLst/>
              <a:ahLst/>
              <a:cxnLst/>
              <a:rect r="r" b="b" t="t" l="l"/>
              <a:pathLst>
                <a:path h="4097782" w="4097782">
                  <a:moveTo>
                    <a:pt x="0" y="0"/>
                  </a:moveTo>
                  <a:lnTo>
                    <a:pt x="4097782" y="0"/>
                  </a:lnTo>
                  <a:lnTo>
                    <a:pt x="4097782" y="4097782"/>
                  </a:lnTo>
                  <a:lnTo>
                    <a:pt x="0" y="409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438" y="2413940"/>
            <a:ext cx="11890762" cy="8386385"/>
            <a:chOff x="0" y="0"/>
            <a:chExt cx="15854349" cy="111818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54350" cy="11181847"/>
            </a:xfrm>
            <a:custGeom>
              <a:avLst/>
              <a:gdLst/>
              <a:ahLst/>
              <a:cxnLst/>
              <a:rect r="r" b="b" t="t" l="l"/>
              <a:pathLst>
                <a:path h="11181847" w="15854350">
                  <a:moveTo>
                    <a:pt x="0" y="0"/>
                  </a:moveTo>
                  <a:lnTo>
                    <a:pt x="15854350" y="0"/>
                  </a:lnTo>
                  <a:lnTo>
                    <a:pt x="15854350" y="11181847"/>
                  </a:lnTo>
                  <a:lnTo>
                    <a:pt x="0" y="11181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854349" cy="111818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MULTICANAIS OFFLINE &amp; ONLINE - GAME OF THRONES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todas as temporadas da série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Responsável por campanhas de aquisição, retenção e eventos</a:t>
              </a: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🖼️ Exemplos Visuais de Campanhas Promocionais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Pôster da 6ª Temporada – Jon Snow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Imagem icônica destacando Jon Snow, utilizada amplamente na campanha da sexta temporada.</a:t>
              </a: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3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71725" y="8457642"/>
            <a:ext cx="3073313" cy="3073313"/>
            <a:chOff x="0" y="0"/>
            <a:chExt cx="4097751" cy="4097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7782" cy="4097782"/>
            </a:xfrm>
            <a:custGeom>
              <a:avLst/>
              <a:gdLst/>
              <a:ahLst/>
              <a:cxnLst/>
              <a:rect r="r" b="b" t="t" l="l"/>
              <a:pathLst>
                <a:path h="4097782" w="4097782">
                  <a:moveTo>
                    <a:pt x="0" y="0"/>
                  </a:moveTo>
                  <a:lnTo>
                    <a:pt x="4097782" y="0"/>
                  </a:lnTo>
                  <a:lnTo>
                    <a:pt x="4097782" y="4097782"/>
                  </a:lnTo>
                  <a:lnTo>
                    <a:pt x="0" y="409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1200" y="2862293"/>
            <a:ext cx="4012724" cy="5893688"/>
            <a:chOff x="0" y="0"/>
            <a:chExt cx="5350299" cy="7858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50256" cy="7858252"/>
            </a:xfrm>
            <a:custGeom>
              <a:avLst/>
              <a:gdLst/>
              <a:ahLst/>
              <a:cxnLst/>
              <a:rect r="r" b="b" t="t" l="l"/>
              <a:pathLst>
                <a:path h="7858252" w="5350256">
                  <a:moveTo>
                    <a:pt x="0" y="0"/>
                  </a:moveTo>
                  <a:lnTo>
                    <a:pt x="5350256" y="0"/>
                  </a:lnTo>
                  <a:lnTo>
                    <a:pt x="5350256" y="7858252"/>
                  </a:lnTo>
                  <a:lnTo>
                    <a:pt x="0" y="7858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438" y="2403894"/>
            <a:ext cx="8183049" cy="12151586"/>
            <a:chOff x="0" y="0"/>
            <a:chExt cx="10910732" cy="16202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0732" cy="16202115"/>
            </a:xfrm>
            <a:custGeom>
              <a:avLst/>
              <a:gdLst/>
              <a:ahLst/>
              <a:cxnLst/>
              <a:rect r="r" b="b" t="t" l="l"/>
              <a:pathLst>
                <a:path h="16202115" w="10910732">
                  <a:moveTo>
                    <a:pt x="0" y="0"/>
                  </a:moveTo>
                  <a:lnTo>
                    <a:pt x="10910732" y="0"/>
                  </a:lnTo>
                  <a:lnTo>
                    <a:pt x="10910732" y="16202115"/>
                  </a:lnTo>
                  <a:lnTo>
                    <a:pt x="0" y="16202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910732" cy="162116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🖼️ Exemplos Visuais de Campanhas Promocionais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'Quem Vai Assumir o Trono?'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Série de pôsteres mostrando diversos personagens no Trono de Ferro, instigando os fãs sobre quem seria o vencedor final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Ativações com o Trono de Ferro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Instalações do Trono de Ferro em locais públicos para interação dos fãs, como parte das estratégias de marketing experiencial.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Links de Referência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Integrada da 6ª Temporada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Detalhes sobre a campanha integrada da sexta temporada de Game of Thrones, incluindo elementos visuais e estratégias utilizadas.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behance.net/gallery/34095204/HBO-GAME-OF-THRONES-SEASON-6-CAMPAIGN-ELEMENTS?locale=en_US"/>
                </a:rPr>
                <a:t>Behance – HBO: Game of Thrones Season 6 Campaign Elements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Campanhas Criativas da HBO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Artigo destacando as abordagens criativas da HBO nas campanhas de Game of Thrones, incluindo ativações e parcerias.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nexttv.com/news/hbo-gets-creative-with-game-of-thrones-marketing"/>
                </a:rPr>
                <a:t>Next TV – HBO Gets Creative With 'Game of Thrones' Marketing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Campanhas Inspiradas em Game of Thrones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Análise de campanhas de marketing inspiradas em Game of Thrones e lições para profissionais da área.</a:t>
              </a:r>
            </a:p>
            <a:p>
              <a:pPr algn="l" marL="438912" indent="-146304" lvl="2">
                <a:lnSpc>
                  <a:spcPts val="2304"/>
                </a:lnSpc>
                <a:buFont typeface="Arial"/>
                <a:buChar char="⚬"/>
              </a:pPr>
              <a:r>
                <a:rPr lang="en-US" sz="19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spiceworks.com/tech/innovation/articles/wintry-cool-game-of-thrones-marketing-campaigns-inspiration-for-marketers/"/>
                </a:rPr>
                <a:t>Spiceworks – Game of Thrones Marketing Campaigns: Inspiration for Marketers</a:t>
              </a: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663"/>
                </a:lnSpc>
              </a:pPr>
            </a:p>
            <a:p>
              <a:pPr algn="l" marL="438912" indent="-146304" lvl="2">
                <a:lnSpc>
                  <a:spcPts val="23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71725" y="8457642"/>
            <a:ext cx="3073313" cy="3073313"/>
            <a:chOff x="0" y="0"/>
            <a:chExt cx="4097751" cy="4097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7782" cy="4097782"/>
            </a:xfrm>
            <a:custGeom>
              <a:avLst/>
              <a:gdLst/>
              <a:ahLst/>
              <a:cxnLst/>
              <a:rect r="r" b="b" t="t" l="l"/>
              <a:pathLst>
                <a:path h="4097782" w="4097782">
                  <a:moveTo>
                    <a:pt x="0" y="0"/>
                  </a:moveTo>
                  <a:lnTo>
                    <a:pt x="4097782" y="0"/>
                  </a:lnTo>
                  <a:lnTo>
                    <a:pt x="4097782" y="4097782"/>
                  </a:lnTo>
                  <a:lnTo>
                    <a:pt x="0" y="409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97312" y="3137557"/>
            <a:ext cx="6231776" cy="5884982"/>
            <a:chOff x="0" y="0"/>
            <a:chExt cx="8309035" cy="78466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08975" cy="7846695"/>
            </a:xfrm>
            <a:custGeom>
              <a:avLst/>
              <a:gdLst/>
              <a:ahLst/>
              <a:cxnLst/>
              <a:rect r="r" b="b" t="t" l="l"/>
              <a:pathLst>
                <a:path h="7846695" w="8308975">
                  <a:moveTo>
                    <a:pt x="0" y="0"/>
                  </a:moveTo>
                  <a:lnTo>
                    <a:pt x="8308975" y="0"/>
                  </a:lnTo>
                  <a:lnTo>
                    <a:pt x="8308975" y="7846695"/>
                  </a:lnTo>
                  <a:lnTo>
                    <a:pt x="0" y="784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39915" y="3120176"/>
            <a:ext cx="4717734" cy="5902363"/>
            <a:chOff x="0" y="0"/>
            <a:chExt cx="6290312" cy="78698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90310" cy="7869809"/>
            </a:xfrm>
            <a:custGeom>
              <a:avLst/>
              <a:gdLst/>
              <a:ahLst/>
              <a:cxnLst/>
              <a:rect r="r" b="b" t="t" l="l"/>
              <a:pathLst>
                <a:path h="7869809" w="6290310">
                  <a:moveTo>
                    <a:pt x="0" y="0"/>
                  </a:moveTo>
                  <a:lnTo>
                    <a:pt x="6290310" y="0"/>
                  </a:lnTo>
                  <a:lnTo>
                    <a:pt x="6290310" y="7869809"/>
                  </a:lnTo>
                  <a:lnTo>
                    <a:pt x="0" y="7869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6575" y="2400300"/>
            <a:ext cx="17434148" cy="7017192"/>
            <a:chOff x="0" y="0"/>
            <a:chExt cx="23245531" cy="93562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45530" cy="9356256"/>
            </a:xfrm>
            <a:custGeom>
              <a:avLst/>
              <a:gdLst/>
              <a:ahLst/>
              <a:cxnLst/>
              <a:rect r="r" b="b" t="t" l="l"/>
              <a:pathLst>
                <a:path h="9356256" w="23245530">
                  <a:moveTo>
                    <a:pt x="0" y="0"/>
                  </a:moveTo>
                  <a:lnTo>
                    <a:pt x="23245530" y="0"/>
                  </a:lnTo>
                  <a:lnTo>
                    <a:pt x="23245530" y="9356256"/>
                  </a:lnTo>
                  <a:lnTo>
                    <a:pt x="0" y="93562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245531" cy="93562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DE AQUISIÇÃO = BOARDWALk EMPIRE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o período de exibição da série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aquisição, upgrade e retenção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42"/>
                </a:lnSpc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o período de exibição da série Boardwalk Empire, atuei diretamente no desenvolvimento e execução de campanhas de aquisição e fidelização de assinantes em parceria com as principais operadoras de Pay TV do Brasil. A série, de grande apelo cinematográfico e altíssimo padrão de produção, demandava estratégias sofisticadas de comunicação e marketing para refletir sua grandiosidade.</a:t>
              </a:r>
            </a:p>
            <a:p>
              <a:pPr algn="l">
                <a:lnSpc>
                  <a:spcPts val="2542"/>
                </a:lnSpc>
              </a:pP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b="true" sz="211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da atuação: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🥃 Campanhas de aquisição com storytelling premium, focadas na ambientação histórica e no glamour retrô da série, ativadas em canais on e offline das operadoras (OOH, rádio, banners, e-mail marketing e mídia social).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💬 Campanhas de incentivo e capacitação com foco em vendedores e call centers, apresentando os diferenciais da série e posicionando a HBO como produtora de conteúdo original de alto nível.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🎬 Ativações de lançamento e eventos para parceiros, com envio de kits personalizados, ações de gifting e ativações temáticas inspiradas nos anos 1920 e no universo dos speakeasies.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📈 Acompanhamento de KPIs e performance junto às operadoras, contribuindo para aumento da base de assinantes no período de exibição.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Minha atuação integrou marketing, eventos e relacionamento B2B, garantindo que a experiência com a marca HBO fosse tão sofisticada e envolvente quanto o conteúdo que entregávamos ao público.</a:t>
              </a:r>
            </a:p>
            <a:p>
              <a:pPr algn="l" marL="392071" indent="-130690" lvl="2">
                <a:lnSpc>
                  <a:spcPts val="254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26331" y="8403400"/>
            <a:ext cx="2561669" cy="2625710"/>
            <a:chOff x="0" y="0"/>
            <a:chExt cx="3415559" cy="3500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5538" cy="3501009"/>
            </a:xfrm>
            <a:custGeom>
              <a:avLst/>
              <a:gdLst/>
              <a:ahLst/>
              <a:cxnLst/>
              <a:rect r="r" b="b" t="t" l="l"/>
              <a:pathLst>
                <a:path h="3501009" w="3415538">
                  <a:moveTo>
                    <a:pt x="0" y="0"/>
                  </a:moveTo>
                  <a:lnTo>
                    <a:pt x="3415538" y="0"/>
                  </a:lnTo>
                  <a:lnTo>
                    <a:pt x="3415538" y="3501009"/>
                  </a:lnTo>
                  <a:lnTo>
                    <a:pt x="0" y="350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3575" y="2272744"/>
            <a:ext cx="18629450" cy="8182315"/>
            <a:chOff x="0" y="0"/>
            <a:chExt cx="24839267" cy="109097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839267" cy="10909753"/>
            </a:xfrm>
            <a:custGeom>
              <a:avLst/>
              <a:gdLst/>
              <a:ahLst/>
              <a:cxnLst/>
              <a:rect r="r" b="b" t="t" l="l"/>
              <a:pathLst>
                <a:path h="10909753" w="24839267">
                  <a:moveTo>
                    <a:pt x="0" y="0"/>
                  </a:moveTo>
                  <a:lnTo>
                    <a:pt x="24839267" y="0"/>
                  </a:lnTo>
                  <a:lnTo>
                    <a:pt x="24839267" y="10909753"/>
                  </a:lnTo>
                  <a:lnTo>
                    <a:pt x="0" y="10909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839267" cy="109097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DE BIG LITTLE LIES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 1ª e 2ª temporada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 e fidelização com operadoras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 exibição de Big Little Lies, série estrelada por nomes como Reese Witherspoon, Nicole Kidman, Shailene Woodley, Zoë Kravitz e Laura Dern, atuei diretamente nas frentes de aquisição, upgrade e retenção de assinantes, com foco na valorização do conteúdo original HBO em parceria com operadoras de Pay TV em todo o Brasil.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estratégia da série exigia um tom elegante e emocional, explorando seus temas sensíveis, estética refinada e o prestígio do elenco para atrair públicos mais exigentes.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da atuação: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🌊 Campanhas 360º com estética cinematográfica, com assets adaptados a mídia impressa, digital, social media e canais próprios das operadoras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Criação de campanhas de incentivo para call centers, destacando os diferenciais de Big Little Lies como série premiada e foco em retenção de clientes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🎬 Suporte a lançamentos de temporada, com ações promocionais, kits de ativação e conteúdos institucionais distribuídos às operadoras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Alinhamento com estratégia global da marca HBO, garantindo que a série fosse promovida com o mesmo nível de excelência internacional no mercado brasileiro</a:t>
              </a:r>
            </a:p>
            <a:p>
              <a:pPr algn="l" marL="406993" indent="-135664" lvl="2">
                <a:lnSpc>
                  <a:spcPts val="2640"/>
                </a:lnSpc>
                <a:buFont typeface="Arial"/>
                <a:buChar char="⚬"/>
              </a:pPr>
              <a:r>
                <a:rPr lang="en-US" sz="2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Atuei como elo entre a HBO e os parceiros de distribuição, assegurando que o público brasileiro tivesse uma jornada de comunicação que refletisse o prestígio, a profundidade emocional e a relevância cultural de Big Little Lies.</a:t>
              </a:r>
            </a:p>
            <a:p>
              <a:pPr algn="l" marL="406993" indent="-135664" lvl="2">
                <a:lnSpc>
                  <a:spcPts val="254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42246" y="9780731"/>
            <a:ext cx="3545754" cy="384123"/>
            <a:chOff x="0" y="0"/>
            <a:chExt cx="4727672" cy="512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7702" cy="512191"/>
            </a:xfrm>
            <a:custGeom>
              <a:avLst/>
              <a:gdLst/>
              <a:ahLst/>
              <a:cxnLst/>
              <a:rect r="r" b="b" t="t" l="l"/>
              <a:pathLst>
                <a:path h="512191" w="4727702">
                  <a:moveTo>
                    <a:pt x="0" y="0"/>
                  </a:moveTo>
                  <a:lnTo>
                    <a:pt x="4727702" y="0"/>
                  </a:lnTo>
                  <a:lnTo>
                    <a:pt x="4727702" y="512191"/>
                  </a:lnTo>
                  <a:lnTo>
                    <a:pt x="0" y="512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5"/>
              </a:stretch>
            </a:blipFill>
          </p:spPr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0077" y="2696332"/>
            <a:ext cx="17647846" cy="8182315"/>
            <a:chOff x="0" y="0"/>
            <a:chExt cx="23530461" cy="109097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30461" cy="10909753"/>
            </a:xfrm>
            <a:custGeom>
              <a:avLst/>
              <a:gdLst/>
              <a:ahLst/>
              <a:cxnLst/>
              <a:rect r="r" b="b" t="t" l="l"/>
              <a:pathLst>
                <a:path h="10909753" w="23530461">
                  <a:moveTo>
                    <a:pt x="0" y="0"/>
                  </a:moveTo>
                  <a:lnTo>
                    <a:pt x="23530461" y="0"/>
                  </a:lnTo>
                  <a:lnTo>
                    <a:pt x="23530461" y="10909753"/>
                  </a:lnTo>
                  <a:lnTo>
                    <a:pt x="0" y="10909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530461" cy="109097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DE BIG LITTLE LIES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 1ª e 2ª temporada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 e fidelização com operadoras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 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Estratégias de Lançamento</a:t>
              </a:r>
            </a:p>
            <a:p>
              <a:pPr algn="l" marL="434342" indent="-144781" lvl="2">
                <a:lnSpc>
                  <a:spcPts val="2280"/>
                </a:lnSpc>
                <a:buFont typeface="Arial"/>
                <a:buChar char="⚬"/>
              </a:pPr>
              <a:r>
                <a:rPr lang="en-US" sz="19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"Whisper Confessions": A HBO colaborou com o aplicativo Whisper, incentivando usuários a compartilhar anonimamente suas "pequenas grandes mentiras". As postagens foram combinadas com imagens da série e divulgadas nas redes sociais, criando conteúdo gerado pelo usuário e aumentando o engajamento. ​</a:t>
              </a:r>
              <a:r>
                <a:rPr lang="en-US" sz="19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medium.com/ipg-media-lab/hbo-launches-campaign-on-whisper-to-turn-secrets-into-branded-content-9e7a6f9cc84e?utm_source=chatgpt.com"/>
                </a:rPr>
                <a:t>Medium+1ipglab.com+1</a:t>
              </a:r>
            </a:p>
            <a:p>
              <a:pPr algn="l" marL="434342" indent="-144781" lvl="2">
                <a:lnSpc>
                  <a:spcPts val="2280"/>
                </a:lnSpc>
                <a:buFont typeface="Arial"/>
                <a:buChar char="⚬"/>
              </a:pPr>
              <a:r>
                <a:rPr lang="en-US" sz="19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Pôsteres Promocionais: Foram lançados pôsteres com o slogan "A perfect life is a perfect lie", destacando as protagonistas e sugerindo os segredos ocultos na trama.​</a:t>
              </a:r>
            </a:p>
            <a:p>
              <a:pPr algn="l" marL="434342" indent="-144781" lvl="2">
                <a:lnSpc>
                  <a:spcPts val="2280"/>
                </a:lnSpc>
                <a:buFont typeface="Arial"/>
                <a:buChar char="⚬"/>
              </a:pPr>
              <a:r>
                <a:rPr lang="en-US" sz="19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Trailer Oficial: O trailer da primeira temporada apresentou o tom dramático e misterioso da série, utilizando a música "Papa Was a Rollin' Stone" para intensificar a atmosfera. ​</a:t>
              </a:r>
              <a:r>
                <a:rPr lang="en-US" sz="19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teenvogue.com/story/shailene-woodley-big-little-lies-trailer?utm_source=chatgpt.com"/>
                </a:rPr>
                <a:t>Teen Vogue+1Wikipedia, la enciclopedia libre+1</a:t>
              </a:r>
            </a:p>
            <a:p>
              <a:pPr algn="l" marL="434342" indent="-144781" lvl="2">
                <a:lnSpc>
                  <a:spcPts val="2280"/>
                </a:lnSpc>
                <a:buFont typeface="Arial"/>
                <a:buChar char="⚬"/>
              </a:pPr>
              <a:r>
                <a:rPr lang="en-US" sz="19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Eventos de Lançamento: A estreia contou com eventos presenciais, incluindo um tapete vermelho com a presença do elenco principal, gerando cobertura da mídia e aumentando a visibilidade da série.</a:t>
              </a:r>
            </a:p>
            <a:p>
              <a:pPr algn="l" marL="434342" indent="-144781" lvl="2">
                <a:lnSpc>
                  <a:spcPts val="2280"/>
                </a:lnSpc>
              </a:pPr>
            </a:p>
            <a:p>
              <a:pPr algn="l" marL="434342" indent="-144781" lvl="2">
                <a:lnSpc>
                  <a:spcPts val="240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640"/>
                </a:lnSpc>
              </a:pPr>
            </a:p>
            <a:p>
              <a:pPr algn="l" marL="434342" indent="-144781" lvl="2">
                <a:lnSpc>
                  <a:spcPts val="25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42246" y="9780731"/>
            <a:ext cx="3545754" cy="384123"/>
            <a:chOff x="0" y="0"/>
            <a:chExt cx="4727672" cy="512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7702" cy="512191"/>
            </a:xfrm>
            <a:custGeom>
              <a:avLst/>
              <a:gdLst/>
              <a:ahLst/>
              <a:cxnLst/>
              <a:rect r="r" b="b" t="t" l="l"/>
              <a:pathLst>
                <a:path h="512191" w="4727702">
                  <a:moveTo>
                    <a:pt x="0" y="0"/>
                  </a:moveTo>
                  <a:lnTo>
                    <a:pt x="4727702" y="0"/>
                  </a:lnTo>
                  <a:lnTo>
                    <a:pt x="4727702" y="512191"/>
                  </a:lnTo>
                  <a:lnTo>
                    <a:pt x="0" y="512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151" y="7200609"/>
            <a:ext cx="12174012" cy="2964245"/>
            <a:chOff x="0" y="0"/>
            <a:chExt cx="16232016" cy="3952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31997" cy="3952367"/>
            </a:xfrm>
            <a:custGeom>
              <a:avLst/>
              <a:gdLst/>
              <a:ahLst/>
              <a:cxnLst/>
              <a:rect r="r" b="b" t="t" l="l"/>
              <a:pathLst>
                <a:path h="3952367" w="16231997">
                  <a:moveTo>
                    <a:pt x="0" y="0"/>
                  </a:moveTo>
                  <a:lnTo>
                    <a:pt x="16231997" y="0"/>
                  </a:lnTo>
                  <a:lnTo>
                    <a:pt x="16231997" y="3952367"/>
                  </a:lnTo>
                  <a:lnTo>
                    <a:pt x="0" y="3952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7014" y="2504418"/>
            <a:ext cx="17329619" cy="7520844"/>
            <a:chOff x="0" y="0"/>
            <a:chExt cx="23106159" cy="10027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06159" cy="10027792"/>
            </a:xfrm>
            <a:custGeom>
              <a:avLst/>
              <a:gdLst/>
              <a:ahLst/>
              <a:cxnLst/>
              <a:rect r="r" b="b" t="t" l="l"/>
              <a:pathLst>
                <a:path h="10027792" w="23106159">
                  <a:moveTo>
                    <a:pt x="0" y="0"/>
                  </a:moveTo>
                  <a:lnTo>
                    <a:pt x="23106159" y="0"/>
                  </a:lnTo>
                  <a:lnTo>
                    <a:pt x="23106159" y="10027792"/>
                  </a:lnTo>
                  <a:lnTo>
                    <a:pt x="0" y="100277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106159" cy="100277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HBO –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CAMPANHAS DE LANÇAMENTO E RETENÇÃO DE SUCCESSION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as temporadas em curso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Responsável pelas campanhas de aquisição, upgrade e fidelização com operadoras de Pay TV</a:t>
              </a:r>
            </a:p>
            <a:p>
              <a:pPr algn="l">
                <a:lnSpc>
                  <a:spcPts val="2542"/>
                </a:lnSpc>
              </a:pPr>
              <a:r>
                <a:rPr lang="en-US" sz="21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542"/>
                </a:lnSpc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as temporadas de Succession, série aclamada pela crítica e vencedora de múltiplos prêmios Emmy, atuei diretamente nas campanhas de aquisição de novos assinantes, além de estratégias de retenção e upgrade em parceria com as principais operadoras de TV por assinatura no Brasil.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Dado o perfil sofisticado da produção — com narrativa densa, personagens complexos e forte crítica ao universo corporativo — as campanhas foram desenhadas para refletir esse tom e se conectar com um público mais exigente e premium.</a:t>
              </a:r>
            </a:p>
            <a:p>
              <a:pPr algn="l" marL="392071" indent="-130690" lvl="2">
                <a:lnSpc>
                  <a:spcPts val="2542"/>
                </a:lnSpc>
              </a:pP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b="true" sz="211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da atuação: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🖥️ Campanhas multicanal com presença em mídia digital, social media, e-mail marketing e conteúdos institucionais em plataformas das operadoras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Ações de incentivo para equipes de vendas e call centers, com materiais que destacavam o prestígio da série e sua relevância no catálogo HBO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Alinhamento visual e de linguagem com campanhas globais, reforçando o valor da marca HBO e o posicionamento de Succession como "série de peso"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🎁 Kits e ativações para influenciadores e executivos de operadoras, com identidade visual corporativa e mensagens fortes sobre poder, família e lealdade</a:t>
              </a:r>
            </a:p>
            <a:p>
              <a:pPr algn="l" marL="392071" indent="-130690" lvl="2">
                <a:lnSpc>
                  <a:spcPts val="2542"/>
                </a:lnSpc>
                <a:buFont typeface="Arial"/>
                <a:buChar char="⚬"/>
              </a:pPr>
              <a:r>
                <a:rPr lang="en-US" sz="21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Minha atuação foi fundamental para manter a visibilidade da série entre os parceiros e garantir uma jornada de comunicação de alto impacto com os clientes finais.</a:t>
              </a:r>
            </a:p>
            <a:p>
              <a:pPr algn="l" marL="392071" indent="-130690" lvl="2">
                <a:lnSpc>
                  <a:spcPts val="254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53233" y="9878776"/>
            <a:ext cx="3073400" cy="271484"/>
            <a:chOff x="0" y="0"/>
            <a:chExt cx="4097867" cy="3619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7909" cy="361950"/>
            </a:xfrm>
            <a:custGeom>
              <a:avLst/>
              <a:gdLst/>
              <a:ahLst/>
              <a:cxnLst/>
              <a:rect r="r" b="b" t="t" l="l"/>
              <a:pathLst>
                <a:path h="361950" w="4097909">
                  <a:moveTo>
                    <a:pt x="0" y="0"/>
                  </a:moveTo>
                  <a:lnTo>
                    <a:pt x="4097909" y="0"/>
                  </a:lnTo>
                  <a:lnTo>
                    <a:pt x="4097909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12" r="1" b="-1220"/>
              </a:stretch>
            </a:blipFill>
          </p:spPr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9822" y="2272744"/>
            <a:ext cx="17660756" cy="7477705"/>
            <a:chOff x="0" y="0"/>
            <a:chExt cx="23547675" cy="9970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47674" cy="9970274"/>
            </a:xfrm>
            <a:custGeom>
              <a:avLst/>
              <a:gdLst/>
              <a:ahLst/>
              <a:cxnLst/>
              <a:rect r="r" b="b" t="t" l="l"/>
              <a:pathLst>
                <a:path h="9970274" w="23547674">
                  <a:moveTo>
                    <a:pt x="0" y="0"/>
                  </a:moveTo>
                  <a:lnTo>
                    <a:pt x="23547674" y="0"/>
                  </a:lnTo>
                  <a:lnTo>
                    <a:pt x="23547674" y="9970274"/>
                  </a:lnTo>
                  <a:lnTo>
                    <a:pt x="0" y="99702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547675" cy="99702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DE LANÇAMENTO E ENGAJAMENTO DE WESTWORLD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todas as temporadas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aquisição, upgrade e suporte promocional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o lançamento e exibição de todas as temporadas de Westworld, atuei nas campanhas integradas com operadoras de Pay TV em todo o Brasil, com o objetivo de atrair novos assinantes, promover upgrades de pacotes e reforçar a inovação da HBO como produtora de conteúdo sci-fi de alto nível.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complexidade narrativa e o visual futurista da série demandaram uma abordagem de campanha sofisticada, focada em curiosidade, mistério e inteligência artificial.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da atuação: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🤖 Campanhas 360º com estética high-tech, integrando TV, digital, social media, materiais promocionais e ativações em parceria com operadoras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📡 Lançamentos de temporada com kits personalizados, teasers e ações de antecipação para imprensa e influenciadores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Campanhas de incentivo para vendedores e operadores, com linguagem voltada à trama instigante e conceito de “consciência e controle”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🎯 Criação de peças educativas para VOD e plataformas digitais, orientando o usuário sobre como maratonar a série e reforçando as funcionalidades on demand da HBO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Atuei na gestão completa das campanhas junto às áreas internas da HBO e operadoras parceiras, sempre buscando entregar uma comunicação coerente com o nível cinematográfico da série.</a:t>
              </a:r>
            </a:p>
            <a:p>
              <a:pPr algn="l" marL="410570" indent="-136857" lvl="2">
                <a:lnSpc>
                  <a:spcPts val="23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3384" y="8517629"/>
            <a:ext cx="2465641" cy="2465641"/>
            <a:chOff x="0" y="0"/>
            <a:chExt cx="3287521" cy="32875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7522" cy="3287522"/>
            </a:xfrm>
            <a:custGeom>
              <a:avLst/>
              <a:gdLst/>
              <a:ahLst/>
              <a:cxnLst/>
              <a:rect r="r" b="b" t="t" l="l"/>
              <a:pathLst>
                <a:path h="3287522" w="3287522">
                  <a:moveTo>
                    <a:pt x="0" y="0"/>
                  </a:moveTo>
                  <a:lnTo>
                    <a:pt x="3287522" y="0"/>
                  </a:lnTo>
                  <a:lnTo>
                    <a:pt x="3287522" y="3287522"/>
                  </a:lnTo>
                  <a:lnTo>
                    <a:pt x="0" y="3287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9139" y="2272744"/>
            <a:ext cx="18992031" cy="9562571"/>
            <a:chOff x="0" y="0"/>
            <a:chExt cx="25322708" cy="12750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322709" cy="12750095"/>
            </a:xfrm>
            <a:custGeom>
              <a:avLst/>
              <a:gdLst/>
              <a:ahLst/>
              <a:cxnLst/>
              <a:rect r="r" b="b" t="t" l="l"/>
              <a:pathLst>
                <a:path h="12750095" w="25322709">
                  <a:moveTo>
                    <a:pt x="0" y="0"/>
                  </a:moveTo>
                  <a:lnTo>
                    <a:pt x="25322709" y="0"/>
                  </a:lnTo>
                  <a:lnTo>
                    <a:pt x="25322709" y="12750095"/>
                  </a:lnTo>
                  <a:lnTo>
                    <a:pt x="0" y="12750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322708" cy="127500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DE LANÇAMENTO E ENGAJAMENTO DE WESTWORLD</a:t>
              </a:r>
            </a:p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 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todas as temporadas</a:t>
              </a:r>
            </a:p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aquisição, upgrade e suporte promocional</a:t>
              </a:r>
            </a:p>
            <a:p>
              <a:pPr algn="l">
                <a:lnSpc>
                  <a:spcPts val="1944"/>
                </a:lnSpc>
              </a:pPr>
            </a:p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</a:t>
              </a:r>
              <a:r>
                <a:rPr lang="en-US" sz="16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Links de Referência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Integrada da Temporada 1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Detalhes sobre a campanha que incluía o site DiscoverWestworld.com e experiências de realidade virtual.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Shorty Awards – HBO’s Westworld Season 1 Integrated Campaign​</a:t>
              </a:r>
              <a:r>
                <a:rPr lang="en-US" sz="16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en.wikipedia.org/wiki/Westworld_%28TV_series%29?utm_source=chatgpt.com"/>
                </a:rPr>
                <a:t>Wikipedia+1Wikipédia, a enciclopédia livre+1</a:t>
              </a:r>
            </a:p>
            <a:p>
              <a:pPr algn="l" marL="370333" indent="-123444" lvl="2">
                <a:lnSpc>
                  <a:spcPts val="1944"/>
                </a:lnSpc>
              </a:pP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Marketing Viral da Temporada 2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Análise das estratégias de marketing viral utilizadas para promover a segunda temporada.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Verge –</a:t>
              </a:r>
              <a:r>
                <a:rPr lang="en-US" sz="16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theverge.com/westworld"/>
                </a:rPr>
                <a:t> A Guide to Westworld’s Viral Marketing​</a:t>
              </a:r>
            </a:p>
            <a:p>
              <a:pPr algn="l" marL="370333" indent="-123444" lvl="2">
                <a:lnSpc>
                  <a:spcPts val="1944"/>
                </a:lnSpc>
              </a:pP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Ativação SXSWestworld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Descrição da experiência imersiva criada pela HBO durante o festival SXSW.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Event Marketer – I</a:t>
              </a:r>
              <a:r>
                <a:rPr lang="en-US" sz="16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4" tooltip="https://www.eventmarketer.com/article/grand-ex-2019-hbo-giant-spoon-sxswestworld/"/>
                </a:rPr>
                <a:t>nside SXSWestworld: HBO Delivers Best Campaign of 2018</a:t>
              </a:r>
            </a:p>
            <a:p>
              <a:pPr algn="l" marL="370333" indent="-123444" lvl="2">
                <a:lnSpc>
                  <a:spcPts val="1944"/>
                </a:lnSpc>
              </a:pP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 u="sng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🖼️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Imagens de Campanhas de Westworld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🧬 Temporada 1 – “Live Without Limits”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Pôster oficial da campanha global: 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🔗 </a:t>
              </a:r>
              <a:r>
                <a:rPr lang="en-US" sz="16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imdb.com/title/tt0475784/mediaviewer/rm2580395776/"/>
                </a:rPr>
                <a:t>IMDb – Pôster oficial da 1ª temporada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🔧 Temporada 2 – “Chaos Takes Control”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Arte promocional com o abutre robótico sobre chapéu ensanguentado:</a:t>
              </a:r>
            </a:p>
            <a:p>
              <a:pPr algn="l" marL="370333" indent="-123444" lvl="2">
                <a:lnSpc>
                  <a:spcPts val="1944"/>
                </a:lnSpc>
              </a:pP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🔗 HBO Pressroom – Arte promocional T2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🎡 Ativação SXSWestworld (2018) – Cidade de Sweetwater recriada ao vivo</a:t>
              </a: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Ativação da HBO que reconstruiu a cidade do parque com atores reais no SXSW:</a:t>
              </a:r>
            </a:p>
            <a:p>
              <a:pPr algn="l" marL="370333" indent="-123444" lvl="2">
                <a:lnSpc>
                  <a:spcPts val="1944"/>
                </a:lnSpc>
              </a:pPr>
            </a:p>
            <a:p>
              <a:pPr algn="l" marL="370333" indent="-123444" lvl="2">
                <a:lnSpc>
                  <a:spcPts val="1944"/>
                </a:lnSpc>
                <a:buFont typeface="Arial"/>
                <a:buChar char="⚬"/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🔗 EventMarketer – Campanha Experiencial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🖥️ Site Viral da Campanha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HBO criou o fictício </a:t>
              </a:r>
              <a:r>
                <a:rPr lang="en-US" sz="16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6" tooltip="http://discoverwestworld.com"/>
                </a:rPr>
                <a:t>DiscoverWestworld.com</a:t>
              </a: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simulando o site oficial do parque — parte da experiência transmidia.</a:t>
              </a:r>
            </a:p>
            <a:p>
              <a:pPr algn="l" marL="370333" indent="-123444" lvl="2">
                <a:lnSpc>
                  <a:spcPts val="1944"/>
                </a:lnSpc>
              </a:pPr>
              <a:r>
                <a:rPr lang="en-US" sz="16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Shorty Awards – Campanha Integrada HBO</a:t>
              </a:r>
            </a:p>
            <a:p>
              <a:pPr algn="l" marL="370333" indent="-123444" lvl="2">
                <a:lnSpc>
                  <a:spcPts val="2663"/>
                </a:lnSpc>
              </a:pPr>
            </a:p>
            <a:p>
              <a:pPr algn="l" marL="370333" indent="-123444" lvl="2">
                <a:lnSpc>
                  <a:spcPts val="2663"/>
                </a:lnSpc>
              </a:pPr>
            </a:p>
            <a:p>
              <a:pPr algn="l" marL="370333" indent="-123444" lvl="2">
                <a:lnSpc>
                  <a:spcPts val="2663"/>
                </a:lnSpc>
              </a:pPr>
            </a:p>
            <a:p>
              <a:pPr algn="l" marL="370333" indent="-123444" lvl="2">
                <a:lnSpc>
                  <a:spcPts val="2663"/>
                </a:lnSpc>
              </a:pPr>
            </a:p>
            <a:p>
              <a:pPr algn="l" marL="370333" indent="-123444" lvl="2">
                <a:lnSpc>
                  <a:spcPts val="23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3384" y="8517629"/>
            <a:ext cx="2465641" cy="2465641"/>
            <a:chOff x="0" y="0"/>
            <a:chExt cx="3287521" cy="32875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7522" cy="3287522"/>
            </a:xfrm>
            <a:custGeom>
              <a:avLst/>
              <a:gdLst/>
              <a:ahLst/>
              <a:cxnLst/>
              <a:rect r="r" b="b" t="t" l="l"/>
              <a:pathLst>
                <a:path h="3287522" w="3287522">
                  <a:moveTo>
                    <a:pt x="0" y="0"/>
                  </a:moveTo>
                  <a:lnTo>
                    <a:pt x="3287522" y="0"/>
                  </a:lnTo>
                  <a:lnTo>
                    <a:pt x="3287522" y="3287522"/>
                  </a:lnTo>
                  <a:lnTo>
                    <a:pt x="0" y="3287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6001" y="2494893"/>
            <a:ext cx="15619389" cy="7719635"/>
            <a:chOff x="0" y="0"/>
            <a:chExt cx="20825852" cy="102928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25851" cy="10292847"/>
            </a:xfrm>
            <a:custGeom>
              <a:avLst/>
              <a:gdLst/>
              <a:ahLst/>
              <a:cxnLst/>
              <a:rect r="r" b="b" t="t" l="l"/>
              <a:pathLst>
                <a:path h="10292847" w="20825851">
                  <a:moveTo>
                    <a:pt x="0" y="0"/>
                  </a:moveTo>
                  <a:lnTo>
                    <a:pt x="20825851" y="0"/>
                  </a:lnTo>
                  <a:lnTo>
                    <a:pt x="20825851" y="10292847"/>
                  </a:lnTo>
                  <a:lnTo>
                    <a:pt x="0" y="1029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25852" cy="102928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Campanhas Institucionais e de Filmes Premiados com Oscar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todo o período de atuação na companhia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campanhas de aquisição, upgrade, retenção e visibilidade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Além das campanhas dedicadas às grandes séries originais da HBO, também atuei na estratégia e execução de campanhas institucionais da marca.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.    e lançamentos de filmes premiados, incluindo títulos ven                                                                                cedores e indicados ao Oscar, exibidos no catálogo HBO.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Essas campanhas reforçavam o valor da assinatura ao posicionar a HBO como uma curadoria de excelência em entretenimento premium, alinhada às maior es premiações do cinema.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Destaques da atuação: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🏆 Campanhas temáticas durante a temporada do Oscar, com destaques dos filmes no catálogo e ativações especiais nas plataformas das operadoras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📺 Conteúdos promocionais e informativos, divulgando o selo de qualidade da HBO como "casa dos grandes filmes"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🧠 Criação de roteiros e conteúdos para canais internos e call centers, posicionando filmes premiados como diferencial competitivo no momento da venda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📈 Campanhas institucionais integradas, com foco em fortalecimento de marca, awareness, upgrade de pacotes e posicionamento de inovação (streaming, on demand, multiplaforma)</a:t>
              </a:r>
            </a:p>
            <a:p>
              <a:pPr algn="l" marL="410570" indent="-136857" lvl="2">
                <a:lnSpc>
                  <a:spcPts val="2662"/>
                </a:lnSpc>
                <a:buFont typeface="Arial"/>
                <a:buChar char="⚬"/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💼 Liderei a conexão entre a HBO e os parceiros de distribuição em todas as frentes dessas campanhas — da estratégia à entrega final — garantindo coerência de marca, relevância cultural e impacto comercial.</a:t>
              </a:r>
            </a:p>
            <a:p>
              <a:pPr algn="l" marL="410570" indent="-136857" lvl="2">
                <a:lnSpc>
                  <a:spcPts val="23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17540" y="9771518"/>
            <a:ext cx="2572319" cy="443011"/>
            <a:chOff x="0" y="0"/>
            <a:chExt cx="3429759" cy="590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762" cy="590677"/>
            </a:xfrm>
            <a:custGeom>
              <a:avLst/>
              <a:gdLst/>
              <a:ahLst/>
              <a:cxnLst/>
              <a:rect r="r" b="b" t="t" l="l"/>
              <a:pathLst>
                <a:path h="590677" w="3429762">
                  <a:moveTo>
                    <a:pt x="0" y="0"/>
                  </a:moveTo>
                  <a:lnTo>
                    <a:pt x="3429762" y="0"/>
                  </a:lnTo>
                  <a:lnTo>
                    <a:pt x="3429762" y="590677"/>
                  </a:lnTo>
                  <a:lnTo>
                    <a:pt x="0" y="59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242" y="2411247"/>
            <a:ext cx="16589414" cy="6872590"/>
            <a:chOff x="0" y="0"/>
            <a:chExt cx="22119219" cy="9163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9219" cy="9163453"/>
            </a:xfrm>
            <a:custGeom>
              <a:avLst/>
              <a:gdLst/>
              <a:ahLst/>
              <a:cxnLst/>
              <a:rect r="r" b="b" t="t" l="l"/>
              <a:pathLst>
                <a:path h="9163453" w="22119219">
                  <a:moveTo>
                    <a:pt x="0" y="0"/>
                  </a:moveTo>
                  <a:lnTo>
                    <a:pt x="22119219" y="0"/>
                  </a:lnTo>
                  <a:lnTo>
                    <a:pt x="22119219" y="9163453"/>
                  </a:lnTo>
                  <a:lnTo>
                    <a:pt x="0" y="91634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19219" cy="91634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de Lançamento e Divulgação da Plataforma HBO GO</a:t>
              </a:r>
            </a:p>
            <a:p>
              <a:pPr algn="l">
                <a:lnSpc>
                  <a:spcPts val="2423"/>
                </a:lnSpc>
              </a:pPr>
              <a:r>
                <a:rPr lang="en-US" sz="20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423"/>
                </a:lnSpc>
              </a:pPr>
              <a:r>
                <a:rPr lang="en-US" sz="20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</a:t>
              </a: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Lançamento e expansão da plataforma no Brasil</a:t>
              </a:r>
            </a:p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marketing responsável pela comunicação com operadoras e público final</a:t>
              </a:r>
            </a:p>
            <a:p>
              <a:pPr algn="l">
                <a:lnSpc>
                  <a:spcPts val="2423"/>
                </a:lnSpc>
              </a:pPr>
              <a:r>
                <a:rPr lang="en-US" sz="20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um momento estratégico de transformação digital da HBO, liderei a campanha de divulgação da plataforma HBO GO, com foco em aumentar a base de assinantes, educar o público sobre o novo formato de acesso e posicionar a HBO como pioneira no consumo on demand de conteúdo premium.</a:t>
              </a:r>
            </a:p>
            <a:p>
              <a:pPr algn="l">
                <a:lnSpc>
                  <a:spcPts val="2423"/>
                </a:lnSpc>
              </a:pPr>
            </a:p>
            <a:p>
              <a:pPr algn="l" marL="373571" indent="-124524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campanha teve como objetivo mostrar que os assinantes poderiam acessar todo o catálogo de séries, filmes e documentários originais da HBO, onde e quando quisessem, com uma comunicação clara, impactante e multiplataforma.</a:t>
              </a:r>
            </a:p>
            <a:p>
              <a:pPr algn="l" marL="373571" indent="-124524" lvl="2">
                <a:lnSpc>
                  <a:spcPts val="2423"/>
                </a:lnSpc>
              </a:pPr>
            </a:p>
            <a:p>
              <a:pPr algn="l" marL="373571" indent="-124524" lvl="2">
                <a:lnSpc>
                  <a:spcPts val="2423"/>
                </a:lnSpc>
                <a:buFont typeface="Arial"/>
                <a:buChar char="⚬"/>
              </a:pPr>
              <a:r>
                <a:rPr lang="en-US" b="true" sz="201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Destaques da atuação:</a:t>
              </a:r>
            </a:p>
            <a:p>
              <a:pPr algn="l" marL="373571" indent="-124524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Criação de campanhas educacionais para operadoras e call centers, explicando a ativação da HBO GO, seus diferenciais e benefícios</a:t>
              </a:r>
            </a:p>
            <a:p>
              <a:pPr algn="l" marL="373530" indent="-124510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Campanhas de aquisição e upgrade, com ênfase em mobilidade, liberdade de consumo e acesso completo ao acervo HBO</a:t>
              </a:r>
            </a:p>
            <a:p>
              <a:pPr algn="l" marL="373530" indent="-124510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Material institucional e de incentivo, distribuído em grande escala para canais de venda, com foco em conversão e retenção</a:t>
              </a:r>
            </a:p>
            <a:p>
              <a:pPr algn="l" marL="373530" indent="-124510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Ações promocionais com destaques do catálogo, como Game of Thrones, Westworld e grandes filmes vencedores do Oscar</a:t>
              </a:r>
            </a:p>
            <a:p>
              <a:pPr algn="l" marL="373530" indent="-124510" lvl="2">
                <a:lnSpc>
                  <a:spcPts val="2423"/>
                </a:lnSpc>
                <a:buFont typeface="Arial"/>
                <a:buChar char="⚬"/>
              </a:pPr>
              <a:r>
                <a:rPr lang="en-US" sz="20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Fui responsável por liderar essa frente estratégica de lançamento, garantindo que a comunicação fosse acessível, aspiracional e compatível com a qualidade de conteúdo que a HBO sempre entregou — e com isso, contribuí fortemente para o crescimento e adoção da plataforma no Brasil.</a:t>
              </a:r>
            </a:p>
            <a:p>
              <a:pPr algn="l" marL="373530" indent="-124510" lvl="2">
                <a:lnSpc>
                  <a:spcPts val="242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35423" y="9031026"/>
            <a:ext cx="2447754" cy="1628869"/>
            <a:chOff x="0" y="0"/>
            <a:chExt cx="3263672" cy="2171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3646" cy="2171827"/>
            </a:xfrm>
            <a:custGeom>
              <a:avLst/>
              <a:gdLst/>
              <a:ahLst/>
              <a:cxnLst/>
              <a:rect r="r" b="b" t="t" l="l"/>
              <a:pathLst>
                <a:path h="2171827" w="3263646">
                  <a:moveTo>
                    <a:pt x="0" y="0"/>
                  </a:moveTo>
                  <a:lnTo>
                    <a:pt x="3263646" y="0"/>
                  </a:lnTo>
                  <a:lnTo>
                    <a:pt x="3263646" y="2171827"/>
                  </a:lnTo>
                  <a:lnTo>
                    <a:pt x="0" y="217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242" y="2411247"/>
            <a:ext cx="16589414" cy="8769690"/>
            <a:chOff x="0" y="0"/>
            <a:chExt cx="22119219" cy="11692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9219" cy="11692920"/>
            </a:xfrm>
            <a:custGeom>
              <a:avLst/>
              <a:gdLst/>
              <a:ahLst/>
              <a:cxnLst/>
              <a:rect r="r" b="b" t="t" l="l"/>
              <a:pathLst>
                <a:path h="11692920" w="22119219">
                  <a:moveTo>
                    <a:pt x="0" y="0"/>
                  </a:moveTo>
                  <a:lnTo>
                    <a:pt x="22119219" y="0"/>
                  </a:lnTo>
                  <a:lnTo>
                    <a:pt x="22119219" y="11692920"/>
                  </a:lnTo>
                  <a:lnTo>
                    <a:pt x="0" y="11692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19219" cy="116929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de Lançamento e Divulgação da Plataforma HBO GO</a:t>
              </a:r>
            </a:p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Lançamento e expansão da plataforma no Brasil</a:t>
              </a:r>
            </a:p>
            <a:p>
              <a:pPr algn="l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marketing responsável pela comunicação com operadoras e público final</a:t>
              </a: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📸 Imagens de Campanhas da HBO GO</a:t>
              </a:r>
            </a:p>
            <a:p>
              <a:pPr algn="l" marL="416053" indent="-138684" lvl="2">
                <a:lnSpc>
                  <a:spcPts val="2184"/>
                </a:lnSpc>
                <a:buFont typeface="Arial"/>
                <a:buChar char="⚬"/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de Lançamento da HBO GO no Brasil (2017)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Imagem promocional destacando a disponibilidade do serviço para assinatura independente no país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Fonte: Showmetech</a:t>
              </a:r>
            </a:p>
            <a:p>
              <a:pPr algn="l" marL="416053" indent="-138684" lvl="2">
                <a:lnSpc>
                  <a:spcPts val="2184"/>
                </a:lnSpc>
              </a:pPr>
            </a:p>
            <a:p>
              <a:pPr algn="l" marL="416053" indent="-138684" lvl="2">
                <a:lnSpc>
                  <a:spcPts val="2184"/>
                </a:lnSpc>
                <a:buFont typeface="Arial"/>
                <a:buChar char="⚬"/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Promoção de Conteúdo no Brasil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Imagem destacando séries populares disponíveis na plataforma, como "Game of Thrones" e "Westworld".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Fonte: O Globo</a:t>
              </a:r>
            </a:p>
            <a:p>
              <a:pPr algn="l" marL="416053" indent="-138684" lvl="2">
                <a:lnSpc>
                  <a:spcPts val="2184"/>
                </a:lnSpc>
              </a:pPr>
            </a:p>
            <a:p>
              <a:pPr algn="l" marL="416053" indent="-138684" lvl="2">
                <a:lnSpc>
                  <a:spcPts val="2184"/>
                </a:lnSpc>
                <a:buFont typeface="Arial"/>
                <a:buChar char="⚬"/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Digital com Game of Thrones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Ação promocional em parceria com a RV Digital para promover recargas pré-pagas do serviço, utilizando a última temporada de "Game of Thrones" como mote.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Fonte: Agência Prana</a:t>
              </a:r>
            </a:p>
            <a:p>
              <a:pPr algn="l" marL="416053" indent="-138684" lvl="2">
                <a:lnSpc>
                  <a:spcPts val="2184"/>
                </a:lnSpc>
              </a:pP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🔗 Links de Referência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Campanha RV Digital + HBO GO + Game of Thrones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Detalhes sobre a ação promocional mencionada acima.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Comerciais da HBO GO</a:t>
              </a:r>
            </a:p>
            <a:p>
              <a:pPr algn="l" marL="416053" indent="-138684" lvl="2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Compilado de comerciais televisivos da HBO GO, incluindo campanhas como "The Best" e "Fiancée".- </a:t>
              </a:r>
              <a:r>
                <a:rPr lang="en-US" sz="18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2" tooltip="https://www.ispot.tv/product/kSC?utm_source=chatgpt.com"/>
                </a:rPr>
                <a:t>spot.tv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​</a:t>
              </a:r>
              <a:r>
                <a:rPr lang="en-US" sz="182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3" tooltip="https://www.ispot.tv/product/kSC?utm_source=chatgpt.com"/>
                </a:rPr>
                <a:t>ispot.tv</a:t>
              </a:r>
            </a:p>
            <a:p>
              <a:pPr algn="l" marL="416053" indent="-138684" lvl="2">
                <a:lnSpc>
                  <a:spcPts val="2184"/>
                </a:lnSpc>
                <a:buFont typeface="Arial"/>
                <a:buChar char="⚬"/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Vídeo Publicitário da HBO GO</a:t>
              </a:r>
            </a:p>
            <a:p>
              <a:pPr algn="l" marL="416053" indent="-138684" lvl="2">
                <a:lnSpc>
                  <a:spcPts val="2184"/>
                </a:lnSpc>
                <a:buFont typeface="Arial"/>
                <a:buChar char="⚬"/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Comercial "Awkward Family Viewing" promovendo o serviço.</a:t>
              </a:r>
            </a:p>
            <a:p>
              <a:pPr algn="l" marL="416053" indent="-138684" lvl="2">
                <a:lnSpc>
                  <a:spcPts val="2422"/>
                </a:lnSpc>
              </a:pPr>
            </a:p>
            <a:p>
              <a:pPr algn="l" marL="416053" indent="-138684" lvl="2">
                <a:lnSpc>
                  <a:spcPts val="2422"/>
                </a:lnSpc>
              </a:pPr>
            </a:p>
            <a:p>
              <a:pPr algn="l" marL="416053" indent="-138684" lvl="2">
                <a:lnSpc>
                  <a:spcPts val="2422"/>
                </a:lnSpc>
              </a:pPr>
            </a:p>
            <a:p>
              <a:pPr algn="l" marL="416053" indent="-138684" lvl="2">
                <a:lnSpc>
                  <a:spcPts val="242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35423" y="9031026"/>
            <a:ext cx="2447754" cy="1628869"/>
            <a:chOff x="0" y="0"/>
            <a:chExt cx="3263672" cy="2171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3646" cy="2171827"/>
            </a:xfrm>
            <a:custGeom>
              <a:avLst/>
              <a:gdLst/>
              <a:ahLst/>
              <a:cxnLst/>
              <a:rect r="r" b="b" t="t" l="l"/>
              <a:pathLst>
                <a:path h="2171827" w="3263646">
                  <a:moveTo>
                    <a:pt x="0" y="0"/>
                  </a:moveTo>
                  <a:lnTo>
                    <a:pt x="3263646" y="0"/>
                  </a:lnTo>
                  <a:lnTo>
                    <a:pt x="3263646" y="2171827"/>
                  </a:lnTo>
                  <a:lnTo>
                    <a:pt x="0" y="217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242" y="2411247"/>
            <a:ext cx="16589414" cy="6872590"/>
            <a:chOff x="0" y="0"/>
            <a:chExt cx="22119219" cy="9163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9219" cy="9163453"/>
            </a:xfrm>
            <a:custGeom>
              <a:avLst/>
              <a:gdLst/>
              <a:ahLst/>
              <a:cxnLst/>
              <a:rect r="r" b="b" t="t" l="l"/>
              <a:pathLst>
                <a:path h="9163453" w="22119219">
                  <a:moveTo>
                    <a:pt x="0" y="0"/>
                  </a:moveTo>
                  <a:lnTo>
                    <a:pt x="22119219" y="0"/>
                  </a:lnTo>
                  <a:lnTo>
                    <a:pt x="22119219" y="9163453"/>
                  </a:lnTo>
                  <a:lnTo>
                    <a:pt x="0" y="91634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19219" cy="91634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– Campanha de Lançamento e Divulgação da Plataforma HBO GO</a:t>
              </a:r>
            </a:p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184"/>
                </a:lnSpc>
              </a:pPr>
              <a:r>
                <a:rPr lang="en-US" sz="18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</a:t>
              </a: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Lançamento e expansão da plataforma no Brasil</a:t>
              </a:r>
            </a:p>
            <a:p>
              <a:pPr algn="l">
                <a:lnSpc>
                  <a:spcPts val="2184"/>
                </a:lnSpc>
              </a:pPr>
              <a:r>
                <a:rPr lang="en-US" sz="18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marketing responsável pela comunicação com operadoras e público final</a:t>
              </a:r>
            </a:p>
            <a:p>
              <a:pPr algn="l">
                <a:lnSpc>
                  <a:spcPts val="2184"/>
                </a:lnSpc>
              </a:pPr>
            </a:p>
            <a:p>
              <a:pPr algn="l">
                <a:lnSpc>
                  <a:spcPts val="2422"/>
                </a:lnSpc>
              </a:pPr>
            </a:p>
            <a:p>
              <a:pPr algn="l">
                <a:lnSpc>
                  <a:spcPts val="2422"/>
                </a:lnSpc>
              </a:pPr>
            </a:p>
            <a:p>
              <a:pPr algn="l">
                <a:lnSpc>
                  <a:spcPts val="2422"/>
                </a:lnSpc>
              </a:pPr>
            </a:p>
            <a:p>
              <a:pPr algn="l">
                <a:lnSpc>
                  <a:spcPts val="242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35423" y="9031026"/>
            <a:ext cx="2447754" cy="1628869"/>
            <a:chOff x="0" y="0"/>
            <a:chExt cx="3263672" cy="2171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3646" cy="2171827"/>
            </a:xfrm>
            <a:custGeom>
              <a:avLst/>
              <a:gdLst/>
              <a:ahLst/>
              <a:cxnLst/>
              <a:rect r="r" b="b" t="t" l="l"/>
              <a:pathLst>
                <a:path h="2171827" w="3263646">
                  <a:moveTo>
                    <a:pt x="0" y="0"/>
                  </a:moveTo>
                  <a:lnTo>
                    <a:pt x="3263646" y="0"/>
                  </a:lnTo>
                  <a:lnTo>
                    <a:pt x="3263646" y="2171827"/>
                  </a:lnTo>
                  <a:lnTo>
                    <a:pt x="0" y="217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5242" y="4443008"/>
            <a:ext cx="16755035" cy="4194164"/>
            <a:chOff x="0" y="0"/>
            <a:chExt cx="22340047" cy="55922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40063" cy="5592191"/>
            </a:xfrm>
            <a:custGeom>
              <a:avLst/>
              <a:gdLst/>
              <a:ahLst/>
              <a:cxnLst/>
              <a:rect r="r" b="b" t="t" l="l"/>
              <a:pathLst>
                <a:path h="5592191" w="22340063">
                  <a:moveTo>
                    <a:pt x="0" y="0"/>
                  </a:moveTo>
                  <a:lnTo>
                    <a:pt x="22340063" y="0"/>
                  </a:lnTo>
                  <a:lnTo>
                    <a:pt x="22340063" y="5592191"/>
                  </a:lnTo>
                  <a:lnTo>
                    <a:pt x="0" y="5592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MARKETING MANAGER (JUL 2015 – AGO 2018)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COORDINATOR (SET 2010 – JUN 2015)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6001" y="2494893"/>
            <a:ext cx="15619389" cy="7179302"/>
            <a:chOff x="0" y="0"/>
            <a:chExt cx="20825852" cy="9572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25851" cy="9572403"/>
            </a:xfrm>
            <a:custGeom>
              <a:avLst/>
              <a:gdLst/>
              <a:ahLst/>
              <a:cxnLst/>
              <a:rect r="r" b="b" t="t" l="l"/>
              <a:pathLst>
                <a:path h="9572403" w="20825851">
                  <a:moveTo>
                    <a:pt x="0" y="0"/>
                  </a:moveTo>
                  <a:lnTo>
                    <a:pt x="20825851" y="0"/>
                  </a:lnTo>
                  <a:lnTo>
                    <a:pt x="20825851" y="9572403"/>
                  </a:lnTo>
                  <a:lnTo>
                    <a:pt x="0" y="95724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25852" cy="95724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- "Você é os olhos de quem vê"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HBO Latin America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2018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 </a:t>
              </a: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Gerente de Marketing / Desenvolvimento de Campanha Institucional</a:t>
              </a:r>
            </a:p>
            <a:p>
              <a:pPr algn="l">
                <a:lnSpc>
                  <a:spcPts val="2662"/>
                </a:lnSpc>
              </a:pPr>
              <a:r>
                <a:rPr lang="en-US" sz="221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DESCRIÇÃO: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Campanha institucional criada para reforçar a conexão emocional entre a HBO e seu público, destacando a importância da perspectiva individual de cada espectador. A campanha "Você é os olhos de quem vê" valorizou o olhar único de cada pessoa sobre as histórias contadas pela HBO, colocando o espectador como parte ativa da experiência de assistir.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 conceito criativo e a tagline "Você é os olhos de quem vê" foram idealizados por mim, traduzindo a essência da campanha: a HBO entrega narrativas poderosas, mas é o olhar de quem assiste que dá significado a elas.</a:t>
              </a:r>
            </a:p>
            <a:p>
              <a:pPr algn="l">
                <a:lnSpc>
                  <a:spcPts val="2662"/>
                </a:lnSpc>
              </a:pPr>
              <a:r>
                <a:rPr lang="en-US" sz="221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 comunicação se materializou em peças para TV, digital e social media, usando imagens emocionais e simbólicas para amplificar a mensagem central e criar uma forte identificação com a marca</a:t>
              </a:r>
            </a:p>
            <a:p>
              <a:pPr algn="l">
                <a:lnSpc>
                  <a:spcPts val="2662"/>
                </a:lnSpc>
              </a:pPr>
            </a:p>
            <a:p>
              <a:pPr algn="l">
                <a:lnSpc>
                  <a:spcPts val="23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17540" y="9771518"/>
            <a:ext cx="2572319" cy="443011"/>
            <a:chOff x="0" y="0"/>
            <a:chExt cx="3429759" cy="590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762" cy="590677"/>
            </a:xfrm>
            <a:custGeom>
              <a:avLst/>
              <a:gdLst/>
              <a:ahLst/>
              <a:cxnLst/>
              <a:rect r="r" b="b" t="t" l="l"/>
              <a:pathLst>
                <a:path h="590677" w="3429762">
                  <a:moveTo>
                    <a:pt x="0" y="0"/>
                  </a:moveTo>
                  <a:lnTo>
                    <a:pt x="3429762" y="0"/>
                  </a:lnTo>
                  <a:lnTo>
                    <a:pt x="3429762" y="590677"/>
                  </a:lnTo>
                  <a:lnTo>
                    <a:pt x="0" y="59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2301912"/>
            <a:ext cx="12344400" cy="5246730"/>
            <a:chOff x="0" y="0"/>
            <a:chExt cx="16459200" cy="6995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6995640"/>
            </a:xfrm>
            <a:custGeom>
              <a:avLst/>
              <a:gdLst/>
              <a:ahLst/>
              <a:cxnLst/>
              <a:rect r="r" b="b" t="t" l="l"/>
              <a:pathLst>
                <a:path h="6995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995640"/>
                  </a:lnTo>
                  <a:lnTo>
                    <a:pt x="0" y="6995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7005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593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CASES </a:t>
              </a: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  <a:p>
              <a:pPr algn="ctr">
                <a:lnSpc>
                  <a:spcPts val="71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61869" y="8457119"/>
            <a:ext cx="705931" cy="705931"/>
          </a:xfrm>
          <a:custGeom>
            <a:avLst/>
            <a:gdLst/>
            <a:ahLst/>
            <a:cxnLst/>
            <a:rect r="r" b="b" t="t" l="l"/>
            <a:pathLst>
              <a:path h="705931" w="705931">
                <a:moveTo>
                  <a:pt x="0" y="0"/>
                </a:moveTo>
                <a:lnTo>
                  <a:pt x="705931" y="0"/>
                </a:lnTo>
                <a:lnTo>
                  <a:pt x="705931" y="705931"/>
                </a:lnTo>
                <a:lnTo>
                  <a:pt x="0" y="705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82916" y="8457119"/>
            <a:ext cx="659436" cy="659436"/>
          </a:xfrm>
          <a:custGeom>
            <a:avLst/>
            <a:gdLst/>
            <a:ahLst/>
            <a:cxnLst/>
            <a:rect r="r" b="b" t="t" l="l"/>
            <a:pathLst>
              <a:path h="659436" w="659436">
                <a:moveTo>
                  <a:pt x="0" y="0"/>
                </a:moveTo>
                <a:lnTo>
                  <a:pt x="659436" y="0"/>
                </a:lnTo>
                <a:lnTo>
                  <a:pt x="659436" y="659436"/>
                </a:lnTo>
                <a:lnTo>
                  <a:pt x="0" y="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29342" y="3213795"/>
            <a:ext cx="5029317" cy="5029317"/>
            <a:chOff x="0" y="0"/>
            <a:chExt cx="6705756" cy="67057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5727" cy="6705727"/>
            </a:xfrm>
            <a:custGeom>
              <a:avLst/>
              <a:gdLst/>
              <a:ahLst/>
              <a:cxnLst/>
              <a:rect r="r" b="b" t="t" l="l"/>
              <a:pathLst>
                <a:path h="6705727" w="6705727">
                  <a:moveTo>
                    <a:pt x="0" y="0"/>
                  </a:moveTo>
                  <a:lnTo>
                    <a:pt x="6705727" y="0"/>
                  </a:lnTo>
                  <a:lnTo>
                    <a:pt x="6705727" y="6705727"/>
                  </a:lnTo>
                  <a:lnTo>
                    <a:pt x="0" y="6705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886" y="1960136"/>
            <a:ext cx="16589414" cy="8120274"/>
            <a:chOff x="0" y="0"/>
            <a:chExt cx="22119219" cy="1082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19219" cy="10827032"/>
            </a:xfrm>
            <a:custGeom>
              <a:avLst/>
              <a:gdLst/>
              <a:ahLst/>
              <a:cxnLst/>
              <a:rect r="r" b="b" t="t" l="l"/>
              <a:pathLst>
                <a:path h="10827032" w="22119219">
                  <a:moveTo>
                    <a:pt x="0" y="0"/>
                  </a:moveTo>
                  <a:lnTo>
                    <a:pt x="22119219" y="0"/>
                  </a:lnTo>
                  <a:lnTo>
                    <a:pt x="22119219" y="10827032"/>
                  </a:lnTo>
                  <a:lnTo>
                    <a:pt x="0" y="10827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19219" cy="108365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PROJETO: CAMPANHAS DA MARCA SEDA E BRILHANTE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CLIENTE: Unilever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PERÍODO: 2008 – 2010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PAPEL: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Supervisora de Atendimento  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DESCRIÇÃO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os anos de 2008 a 2010, atuei na agência JWT como Supervisora de Atendimento para a conta da Unilever, coordenando campanhas estratégicas das marcas **Seda** e **Brilhante**. A JWT era a agência guarda-chuva responsável por liderar todo o processo criativo, estratégico e operacional, garantindo o alinhamento entre fornecedores, agências parceiras e stakeholders. A JWT assumia o papel de **agência líder do ecossistema**, coordenando diversas frentes criativas e táticas, além de atuar no relacionamento entre os núcleos da Unilever e os demais parceiros do projeto. Esse período foi essencial para o fortalecimento da minha visão de gestão integrada e execução criativa com consistência e propósito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💇‍♀️ **Campanhas – Seda**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 📢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Lançamento de novas variantes focadas em diferentes tipos de cabelo (lisos, cacheados, danificados)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💡 Participação no projeto “Cocriação com especialistas”, unindo marca e consumidoras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📺 Ativações em TV aberta, mídia impressa, digital e pontos de venda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🎯 Estratégias de segmentação por tipo de público e região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🤝 Integração com influenciadoras e canais especializados em beleza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---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🧼 **Campanhas – Brilhante** </a:t>
              </a: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💬 Posicionamento voltado à mulher moderna e batalhadora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📦 Reformulação de embalagem e identidade visual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📊 Campanhas institucionais e promocionais com foco em performance e apelo emocional  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🧽 Destaque para valores de resistência, eficiência e tradição da marca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60988" y="756746"/>
            <a:ext cx="12155212" cy="1515999"/>
            <a:chOff x="0" y="0"/>
            <a:chExt cx="16206949" cy="20213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06949" cy="2021332"/>
            </a:xfrm>
            <a:custGeom>
              <a:avLst/>
              <a:gdLst/>
              <a:ahLst/>
              <a:cxnLst/>
              <a:rect r="r" b="b" t="t" l="l"/>
              <a:pathLst>
                <a:path h="2021332" w="16206949">
                  <a:moveTo>
                    <a:pt x="0" y="0"/>
                  </a:moveTo>
                  <a:lnTo>
                    <a:pt x="16206949" y="0"/>
                  </a:lnTo>
                  <a:lnTo>
                    <a:pt x="16206949" y="2021332"/>
                  </a:lnTo>
                  <a:lnTo>
                    <a:pt x="0" y="2021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206949" cy="202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JWT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ACCOUNT SUPERVISOR (JAN 2008 – MAR 2010)</a:t>
              </a:r>
            </a:p>
            <a:p>
              <a:pPr algn="ctr">
                <a:lnSpc>
                  <a:spcPts val="36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03700" y="8714751"/>
            <a:ext cx="1232565" cy="1365658"/>
            <a:chOff x="0" y="0"/>
            <a:chExt cx="1643420" cy="18208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3380" cy="1820926"/>
            </a:xfrm>
            <a:custGeom>
              <a:avLst/>
              <a:gdLst/>
              <a:ahLst/>
              <a:cxnLst/>
              <a:rect r="r" b="b" t="t" l="l"/>
              <a:pathLst>
                <a:path h="1820926" w="1643380">
                  <a:moveTo>
                    <a:pt x="0" y="0"/>
                  </a:moveTo>
                  <a:lnTo>
                    <a:pt x="1643380" y="0"/>
                  </a:lnTo>
                  <a:lnTo>
                    <a:pt x="164338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2" t="0" r="-125" b="2"/>
              </a:stretch>
            </a:blipFill>
          </p:spPr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84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94893"/>
            <a:ext cx="11112500" cy="6788944"/>
            <a:chOff x="0" y="0"/>
            <a:chExt cx="14816667" cy="905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16666" cy="9051925"/>
            </a:xfrm>
            <a:custGeom>
              <a:avLst/>
              <a:gdLst/>
              <a:ahLst/>
              <a:cxnLst/>
              <a:rect r="r" b="b" t="t" l="l"/>
              <a:pathLst>
                <a:path h="9051925" w="14816666">
                  <a:moveTo>
                    <a:pt x="0" y="0"/>
                  </a:moveTo>
                  <a:lnTo>
                    <a:pt x="14816666" y="0"/>
                  </a:lnTo>
                  <a:lnTo>
                    <a:pt x="14816666" y="9051925"/>
                  </a:lnTo>
                  <a:lnTo>
                    <a:pt x="0" y="9051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816667" cy="9051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SOU MOVIDA POR IDEIAS QUE PROVOCAM, MARCAS QUE TRANSFORMAM E PESSOAS QUE INSPIRAM.</a:t>
              </a:r>
            </a:p>
            <a:p>
              <a:pPr algn="l">
                <a:lnSpc>
                  <a:spcPts val="3960"/>
                </a:lnSpc>
              </a:pPr>
            </a:p>
            <a:p>
              <a:pPr algn="l">
                <a:lnSpc>
                  <a:spcPts val="3960"/>
                </a:lnSpc>
              </a:pPr>
              <a:r>
                <a:rPr lang="en-US" sz="3300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Acredito na potência do feminino, no poder das histórias e na coragem de olhar para dentro para criar fora.</a:t>
              </a:r>
            </a:p>
            <a:p>
              <a:pPr algn="l">
                <a:lnSpc>
                  <a:spcPts val="3960"/>
                </a:lnSpc>
              </a:pPr>
              <a:r>
                <a:rPr lang="en-US" sz="3300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Meu trabalho não é só comunicar — é conectar, emocionar e deixar marcas que importam.</a:t>
              </a:r>
            </a:p>
            <a:p>
              <a:pPr algn="l">
                <a:lnSpc>
                  <a:spcPts val="5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6800" y="2057400"/>
            <a:ext cx="12352120" cy="8229600"/>
            <a:chOff x="0" y="0"/>
            <a:chExt cx="16469493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6948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6469488">
                  <a:moveTo>
                    <a:pt x="0" y="0"/>
                  </a:moveTo>
                  <a:lnTo>
                    <a:pt x="16469488" y="0"/>
                  </a:lnTo>
                  <a:lnTo>
                    <a:pt x="1646948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" r="0" b="-44"/>
              </a:stretch>
            </a:blipFill>
          </p:spPr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495010">
            <a:off x="-419760" y="-789944"/>
            <a:ext cx="19127520" cy="11866888"/>
            <a:chOff x="0" y="0"/>
            <a:chExt cx="25503360" cy="15822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3378" cy="15822549"/>
            </a:xfrm>
            <a:custGeom>
              <a:avLst/>
              <a:gdLst/>
              <a:ahLst/>
              <a:cxnLst/>
              <a:rect r="r" b="b" t="t" l="l"/>
              <a:pathLst>
                <a:path h="15822549" w="25503378">
                  <a:moveTo>
                    <a:pt x="25503378" y="13662025"/>
                  </a:moveTo>
                  <a:lnTo>
                    <a:pt x="1215263" y="15822549"/>
                  </a:lnTo>
                  <a:lnTo>
                    <a:pt x="0" y="2160397"/>
                  </a:lnTo>
                  <a:lnTo>
                    <a:pt x="24288114" y="0"/>
                  </a:lnTo>
                  <a:lnTo>
                    <a:pt x="25503378" y="13662025"/>
                  </a:lnTo>
                  <a:close/>
                </a:path>
              </a:pathLst>
            </a:custGeom>
            <a:blipFill>
              <a:blip r:embed="rId2"/>
              <a:stretch>
                <a:fillRect l="0" t="-15845" r="0" b="-158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8647206"/>
            <a:ext cx="18307050" cy="19050"/>
            <a:chOff x="0" y="0"/>
            <a:chExt cx="24409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404293" y="5124450"/>
            <a:ext cx="10306050" cy="19050"/>
            <a:chOff x="0" y="0"/>
            <a:chExt cx="137414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-3422343" y="5124450"/>
            <a:ext cx="10306050" cy="19050"/>
            <a:chOff x="0" y="0"/>
            <a:chExt cx="13741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0"/>
              <a:ext cx="13716000" cy="25400"/>
            </a:xfrm>
            <a:custGeom>
              <a:avLst/>
              <a:gdLst/>
              <a:ahLst/>
              <a:cxnLst/>
              <a:rect r="r" b="b" t="t" l="l"/>
              <a:pathLst>
                <a:path h="25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3724096" y="4309315"/>
            <a:ext cx="8675781" cy="19050"/>
            <a:chOff x="0" y="0"/>
            <a:chExt cx="11567708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0"/>
              <a:ext cx="11542268" cy="25400"/>
            </a:xfrm>
            <a:custGeom>
              <a:avLst/>
              <a:gdLst/>
              <a:ahLst/>
              <a:cxnLst/>
              <a:rect r="r" b="b" t="t" l="l"/>
              <a:pathLst>
                <a:path h="25400" w="11542268">
                  <a:moveTo>
                    <a:pt x="0" y="0"/>
                  </a:moveTo>
                  <a:lnTo>
                    <a:pt x="11542268" y="0"/>
                  </a:lnTo>
                  <a:lnTo>
                    <a:pt x="115422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228510" y="6516290"/>
            <a:ext cx="3433467" cy="1275097"/>
          </a:xfrm>
          <a:custGeom>
            <a:avLst/>
            <a:gdLst/>
            <a:ahLst/>
            <a:cxnLst/>
            <a:rect r="r" b="b" t="t" l="l"/>
            <a:pathLst>
              <a:path h="1275097" w="3433467">
                <a:moveTo>
                  <a:pt x="0" y="0"/>
                </a:moveTo>
                <a:lnTo>
                  <a:pt x="3433468" y="0"/>
                </a:lnTo>
                <a:lnTo>
                  <a:pt x="3433468" y="1275097"/>
                </a:lnTo>
                <a:lnTo>
                  <a:pt x="0" y="1275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47100" y="3593072"/>
            <a:ext cx="596900" cy="596900"/>
          </a:xfrm>
          <a:custGeom>
            <a:avLst/>
            <a:gdLst/>
            <a:ahLst/>
            <a:cxnLst/>
            <a:rect r="r" b="b" t="t" l="l"/>
            <a:pathLst>
              <a:path h="596900" w="596900">
                <a:moveTo>
                  <a:pt x="0" y="0"/>
                </a:moveTo>
                <a:lnTo>
                  <a:pt x="596900" y="0"/>
                </a:lnTo>
                <a:lnTo>
                  <a:pt x="5969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47100" y="4380472"/>
            <a:ext cx="607245" cy="434939"/>
          </a:xfrm>
          <a:custGeom>
            <a:avLst/>
            <a:gdLst/>
            <a:ahLst/>
            <a:cxnLst/>
            <a:rect r="r" b="b" t="t" l="l"/>
            <a:pathLst>
              <a:path h="434939" w="607245">
                <a:moveTo>
                  <a:pt x="0" y="0"/>
                </a:moveTo>
                <a:lnTo>
                  <a:pt x="607245" y="0"/>
                </a:lnTo>
                <a:lnTo>
                  <a:pt x="607245" y="434939"/>
                </a:lnTo>
                <a:lnTo>
                  <a:pt x="0" y="4349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4" r="0" b="-17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47100" y="5010505"/>
            <a:ext cx="596900" cy="596900"/>
          </a:xfrm>
          <a:custGeom>
            <a:avLst/>
            <a:gdLst/>
            <a:ahLst/>
            <a:cxnLst/>
            <a:rect r="r" b="b" t="t" l="l"/>
            <a:pathLst>
              <a:path h="596900" w="596900">
                <a:moveTo>
                  <a:pt x="0" y="0"/>
                </a:moveTo>
                <a:lnTo>
                  <a:pt x="596900" y="0"/>
                </a:lnTo>
                <a:lnTo>
                  <a:pt x="5969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58451" y="2606714"/>
            <a:ext cx="509349" cy="795858"/>
          </a:xfrm>
          <a:custGeom>
            <a:avLst/>
            <a:gdLst/>
            <a:ahLst/>
            <a:cxnLst/>
            <a:rect r="r" b="b" t="t" l="l"/>
            <a:pathLst>
              <a:path h="795858" w="509349">
                <a:moveTo>
                  <a:pt x="0" y="0"/>
                </a:moveTo>
                <a:lnTo>
                  <a:pt x="509349" y="0"/>
                </a:lnTo>
                <a:lnTo>
                  <a:pt x="509349" y="795858"/>
                </a:lnTo>
                <a:lnTo>
                  <a:pt x="0" y="795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23" t="0" r="-223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63480" y="6917377"/>
            <a:ext cx="590865" cy="590865"/>
          </a:xfrm>
          <a:custGeom>
            <a:avLst/>
            <a:gdLst/>
            <a:ahLst/>
            <a:cxnLst/>
            <a:rect r="r" b="b" t="t" l="l"/>
            <a:pathLst>
              <a:path h="590865" w="590865">
                <a:moveTo>
                  <a:pt x="0" y="0"/>
                </a:moveTo>
                <a:lnTo>
                  <a:pt x="590865" y="0"/>
                </a:lnTo>
                <a:lnTo>
                  <a:pt x="590865" y="590865"/>
                </a:lnTo>
                <a:lnTo>
                  <a:pt x="0" y="590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30682" y="0"/>
            <a:ext cx="6331304" cy="8656731"/>
            <a:chOff x="0" y="0"/>
            <a:chExt cx="8441739" cy="115423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41690" cy="11542268"/>
            </a:xfrm>
            <a:custGeom>
              <a:avLst/>
              <a:gdLst/>
              <a:ahLst/>
              <a:cxnLst/>
              <a:rect r="r" b="b" t="t" l="l"/>
              <a:pathLst>
                <a:path h="11542268" w="8441690">
                  <a:moveTo>
                    <a:pt x="0" y="0"/>
                  </a:moveTo>
                  <a:lnTo>
                    <a:pt x="8441690" y="0"/>
                  </a:lnTo>
                  <a:lnTo>
                    <a:pt x="8441690" y="11542268"/>
                  </a:lnTo>
                  <a:lnTo>
                    <a:pt x="0" y="1154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5902" t="0" r="-590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67825" y="886279"/>
            <a:ext cx="6709676" cy="1025652"/>
            <a:chOff x="0" y="0"/>
            <a:chExt cx="8946235" cy="1367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46235" cy="1367536"/>
            </a:xfrm>
            <a:custGeom>
              <a:avLst/>
              <a:gdLst/>
              <a:ahLst/>
              <a:cxnLst/>
              <a:rect r="r" b="b" t="t" l="l"/>
              <a:pathLst>
                <a:path h="1367536" w="8946235">
                  <a:moveTo>
                    <a:pt x="0" y="0"/>
                  </a:moveTo>
                  <a:lnTo>
                    <a:pt x="8946235" y="0"/>
                  </a:lnTo>
                  <a:lnTo>
                    <a:pt x="8946235" y="1367536"/>
                  </a:lnTo>
                  <a:lnTo>
                    <a:pt x="0" y="13675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8946235" cy="14723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69"/>
                </a:lnSpc>
              </a:pPr>
              <a:r>
                <a:rPr lang="en-US" sz="610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CONTATO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67825" y="3922177"/>
            <a:ext cx="4562475" cy="893235"/>
            <a:chOff x="0" y="0"/>
            <a:chExt cx="6083300" cy="1190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83300" cy="1190980"/>
            </a:xfrm>
            <a:custGeom>
              <a:avLst/>
              <a:gdLst/>
              <a:ahLst/>
              <a:cxnLst/>
              <a:rect r="r" b="b" t="t" l="l"/>
              <a:pathLst>
                <a:path h="1190980" w="6083300">
                  <a:moveTo>
                    <a:pt x="0" y="0"/>
                  </a:moveTo>
                  <a:lnTo>
                    <a:pt x="6083300" y="0"/>
                  </a:lnTo>
                  <a:lnTo>
                    <a:pt x="6083300" y="1190980"/>
                  </a:lnTo>
                  <a:lnTo>
                    <a:pt x="0" y="11909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83300" cy="123860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33"/>
                </a:lnSpc>
              </a:pPr>
            </a:p>
            <a:p>
              <a:pPr algn="l">
                <a:lnSpc>
                  <a:spcPts val="3633"/>
                </a:lnSpc>
              </a:pPr>
              <a:r>
                <a:rPr lang="en-US" sz="259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paulagaliano@gmail.com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00485" y="6860227"/>
            <a:ext cx="7489518" cy="747004"/>
            <a:chOff x="0" y="0"/>
            <a:chExt cx="9986024" cy="9960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86024" cy="996005"/>
            </a:xfrm>
            <a:custGeom>
              <a:avLst/>
              <a:gdLst/>
              <a:ahLst/>
              <a:cxnLst/>
              <a:rect r="r" b="b" t="t" l="l"/>
              <a:pathLst>
                <a:path h="996005" w="9986024">
                  <a:moveTo>
                    <a:pt x="0" y="0"/>
                  </a:moveTo>
                  <a:lnTo>
                    <a:pt x="9986024" y="0"/>
                  </a:lnTo>
                  <a:lnTo>
                    <a:pt x="9986024" y="996005"/>
                  </a:lnTo>
                  <a:lnTo>
                    <a:pt x="0" y="99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86024" cy="10531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25"/>
                </a:lnSpc>
              </a:pPr>
              <a:r>
                <a:rPr lang="en-US" sz="2090" i="true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entre em contato </a:t>
              </a:r>
            </a:p>
            <a:p>
              <a:pPr algn="ctr">
                <a:lnSpc>
                  <a:spcPts val="2925"/>
                </a:lnSpc>
              </a:pPr>
              <a:r>
                <a:rPr lang="en-US" sz="2090" i="true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para saber mais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-2870417" y="4163455"/>
            <a:ext cx="7392848" cy="339345"/>
            <a:chOff x="0" y="0"/>
            <a:chExt cx="9857131" cy="4524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57131" cy="452460"/>
            </a:xfrm>
            <a:custGeom>
              <a:avLst/>
              <a:gdLst/>
              <a:ahLst/>
              <a:cxnLst/>
              <a:rect r="r" b="b" t="t" l="l"/>
              <a:pathLst>
                <a:path h="452460" w="9857131">
                  <a:moveTo>
                    <a:pt x="0" y="0"/>
                  </a:moveTo>
                  <a:lnTo>
                    <a:pt x="9857131" y="0"/>
                  </a:lnTo>
                  <a:lnTo>
                    <a:pt x="9857131" y="452460"/>
                  </a:lnTo>
                  <a:lnTo>
                    <a:pt x="0" y="452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857131" cy="4905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20"/>
                </a:lnSpc>
              </a:pPr>
              <a:r>
                <a:rPr lang="en-US" sz="201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PORTFÓLIO PESSOAL DE PAULA GALIANO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16487" y="5095875"/>
            <a:ext cx="8522826" cy="438785"/>
            <a:chOff x="0" y="0"/>
            <a:chExt cx="11363768" cy="585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63768" cy="585047"/>
            </a:xfrm>
            <a:custGeom>
              <a:avLst/>
              <a:gdLst/>
              <a:ahLst/>
              <a:cxnLst/>
              <a:rect r="r" b="b" t="t" l="l"/>
              <a:pathLst>
                <a:path h="585047" w="11363768">
                  <a:moveTo>
                    <a:pt x="0" y="0"/>
                  </a:moveTo>
                  <a:lnTo>
                    <a:pt x="11363768" y="0"/>
                  </a:lnTo>
                  <a:lnTo>
                    <a:pt x="11363768" y="585047"/>
                  </a:lnTo>
                  <a:lnTo>
                    <a:pt x="0" y="585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363768" cy="6326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40"/>
                </a:lnSpc>
              </a:pPr>
              <a:r>
                <a:rPr lang="en-US" sz="2600" u="sng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  <a:hlinkClick r:id="rId16" tooltip="https://www.linkedin.com/in/paulagaliano/"/>
                </a:rPr>
                <a:t>in/paulagaliano/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60148" y="3696260"/>
            <a:ext cx="5854452" cy="390525"/>
            <a:chOff x="0" y="0"/>
            <a:chExt cx="7805936" cy="520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5936" cy="520700"/>
            </a:xfrm>
            <a:custGeom>
              <a:avLst/>
              <a:gdLst/>
              <a:ahLst/>
              <a:cxnLst/>
              <a:rect r="r" b="b" t="t" l="l"/>
              <a:pathLst>
                <a:path h="520700" w="7805936">
                  <a:moveTo>
                    <a:pt x="0" y="0"/>
                  </a:moveTo>
                  <a:lnTo>
                    <a:pt x="7805936" y="0"/>
                  </a:lnTo>
                  <a:lnTo>
                    <a:pt x="7805936" y="520700"/>
                  </a:lnTo>
                  <a:lnTo>
                    <a:pt x="0" y="520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805936" cy="5207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+34 662 557 812 / + 55 11 98405 0444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16487" y="2542509"/>
            <a:ext cx="7337118" cy="1349013"/>
            <a:chOff x="0" y="0"/>
            <a:chExt cx="9782824" cy="17986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82824" cy="1798684"/>
            </a:xfrm>
            <a:custGeom>
              <a:avLst/>
              <a:gdLst/>
              <a:ahLst/>
              <a:cxnLst/>
              <a:rect r="r" b="b" t="t" l="l"/>
              <a:pathLst>
                <a:path h="1798684" w="9782824">
                  <a:moveTo>
                    <a:pt x="0" y="0"/>
                  </a:moveTo>
                  <a:lnTo>
                    <a:pt x="9782824" y="0"/>
                  </a:lnTo>
                  <a:lnTo>
                    <a:pt x="9782824" y="1798684"/>
                  </a:lnTo>
                  <a:lnTo>
                    <a:pt x="0" y="1798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82824" cy="18463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33"/>
                </a:lnSpc>
              </a:pPr>
              <a:r>
                <a:rPr lang="en-US" sz="259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Carrer Martinez de la Rosa, 35, 2-2</a:t>
              </a:r>
            </a:p>
            <a:p>
              <a:pPr algn="l">
                <a:lnSpc>
                  <a:spcPts val="3633"/>
                </a:lnSpc>
              </a:pPr>
              <a:r>
                <a:rPr lang="en-US" sz="259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Gràcia, Barcelona - 08012 </a:t>
              </a:r>
            </a:p>
            <a:p>
              <a:pPr algn="l">
                <a:lnSpc>
                  <a:spcPts val="3633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DAGmCNXvMvw</dc:identifier>
  <dcterms:modified xsi:type="dcterms:W3CDTF">2011-08-01T06:04:30Z</dcterms:modified>
  <cp:revision>1</cp:revision>
  <dc:title>PAULA GALIANO</dc:title>
</cp:coreProperties>
</file>